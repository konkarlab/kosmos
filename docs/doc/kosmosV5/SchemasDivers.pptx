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5D8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E3FDA-0BC5-40FC-8E29-96AFC7C00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3102AA-7A23-483C-A36A-D2F1FC2C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4B643-E144-49F0-BBC1-FF45A698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3C8777-A3BF-4F32-BA63-BB13FD12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3816BC-8ACC-4F44-A1C8-67285E19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68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E7408-1975-4596-AE27-F77E277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BAA8D-E790-4940-A980-2A018CB5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37150D-2CD9-4F0D-A108-D0B16805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9FE76-AF48-463B-8BB5-4C82E717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405B92-9C77-4274-98EC-6015F4C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A9BD1-A417-47DE-B993-4CAEEB15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69949C-6CEF-41E8-9843-7F4F2815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0956CD-0DD6-4219-98F7-5AD7DA2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5021D-A78C-4ACE-9CC5-D77324D2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52B640-CF59-4E59-A92D-8CE730AC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36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30AAC-B335-4556-8002-118DF01C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EFBBF0-A778-4076-9DDE-5E1696DC4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38C78-8AA3-4918-BFC9-52FF9C70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953066-EFFB-4CA7-AB70-B7536C51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E72613-50A8-4093-A876-3709E665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4EE5D-5C50-4351-8440-9EAA8C5E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19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3408D-0AD7-492A-A882-9F2FE3EE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90734B-FD24-4A35-8385-A38F1BD1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0E5AA-D1FA-45D6-B6C1-E80B400E4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088F18-BEFB-4365-B519-12C9CB4A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8DB570-B810-4599-99D1-B5A1C364B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32E182-DCF4-4F40-B306-F16146E3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18B62D-F20F-410F-9CBB-0FA3759D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54837E-CCC1-4C6A-8036-D8EBE6FA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69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D14DD-2775-4934-96E9-1E34E82C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032A26-36FB-44B4-8942-3EE30FDD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1FD4B-F5E4-4D6A-9339-7761BFB6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D162E2-09C4-47AF-AE32-E5E2B028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37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9FD969-23CE-4772-AF3F-AD484A1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9230C3-2C3F-43EF-AAD1-D68252A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8F5AD4-E0D9-4B30-8605-5096360A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5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FD309-B259-4A5D-81A5-DFC10C3B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45C3D4-F014-458F-853A-DCAD5643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27A15D-C811-4D60-942F-C66E77D2A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8BC7FB-86C1-426D-BD65-5A606296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798A2-1E36-4DD3-B787-28FA0655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7217BB-AF84-438B-B8C8-B4011E76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08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7237C8-584D-4934-BCB3-6CCB2927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880715-4B65-4CCF-85B1-1B1B5C8C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25A191-3A95-4217-BA80-120C7FAE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30048-D1ED-4728-937A-ABF17441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21A97-7179-4B5A-8CFD-CBF50495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688027-844D-4E10-B852-3C4FBB86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61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E1DDC-6BCC-4EC4-8C8C-245A2D2A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47476-45F6-4E74-8BA5-9674539E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D83F60-5C0A-4C0C-96B5-798B85C8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7C544-C454-4D16-B025-C636DE16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E3C29E-4EDA-49B8-9FDC-67CBD010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0F7BEA-70B7-4537-BEE4-1A91E94C5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C74015-7F45-4775-9DA2-AC759934A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25140-58AA-4BB4-A2AD-A6869807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4E3DB-01EE-473F-87C5-5A7F9721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75A5ED-D2BB-4B7F-9027-541CF85B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08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BEB0BF-BB9C-4E8B-93B4-3CC70AE7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B6E793-5043-4E6D-A88F-E9DF282E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7A623-3485-4654-8B17-0D21836CB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67808-081D-4196-B994-014D4460AAAC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095370-996A-4775-95D0-36352231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C40DD6-01F6-40F1-A96A-B82BF4839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3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C5BDB0E8-89B3-4697-8964-0FB5D62F1270}"/>
              </a:ext>
            </a:extLst>
          </p:cNvPr>
          <p:cNvGrpSpPr/>
          <p:nvPr/>
        </p:nvGrpSpPr>
        <p:grpSpPr>
          <a:xfrm>
            <a:off x="1027113" y="407227"/>
            <a:ext cx="10137774" cy="2071886"/>
            <a:chOff x="968376" y="292927"/>
            <a:chExt cx="10137774" cy="2071886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EC92CACB-0CC8-4D06-A2B6-62ED111C2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7811207" y="1248483"/>
              <a:ext cx="292634" cy="96325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BFE1DD-366C-4CE5-B782-C10F09CE6B7B}"/>
                </a:ext>
              </a:extLst>
            </p:cNvPr>
            <p:cNvSpPr/>
            <p:nvPr/>
          </p:nvSpPr>
          <p:spPr>
            <a:xfrm>
              <a:off x="3544528" y="1331379"/>
              <a:ext cx="4323122" cy="21167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0E5C6D8-B2D4-4662-8A81-6BBA3E2E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15407" y="1238958"/>
              <a:ext cx="292634" cy="963252"/>
            </a:xfrm>
            <a:prstGeom prst="rect">
              <a:avLst/>
            </a:prstGeom>
          </p:spPr>
        </p:pic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74200A21-853F-45A0-ABEA-1B2BAD2EE19E}"/>
                </a:ext>
              </a:extLst>
            </p:cNvPr>
            <p:cNvGrpSpPr/>
            <p:nvPr/>
          </p:nvGrpSpPr>
          <p:grpSpPr>
            <a:xfrm>
              <a:off x="971550" y="903814"/>
              <a:ext cx="10134600" cy="533400"/>
              <a:chOff x="904875" y="2333625"/>
              <a:chExt cx="10134600" cy="5334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2A0944-CF29-43F3-8BA4-35B4A1D3B57E}"/>
                  </a:ext>
                </a:extLst>
              </p:cNvPr>
              <p:cNvSpPr/>
              <p:nvPr/>
            </p:nvSpPr>
            <p:spPr>
              <a:xfrm>
                <a:off x="904875" y="2494490"/>
                <a:ext cx="9829800" cy="21167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FEE4DB-147B-482E-9764-0FD3C457AC9F}"/>
                  </a:ext>
                </a:extLst>
              </p:cNvPr>
              <p:cNvSpPr/>
              <p:nvPr/>
            </p:nvSpPr>
            <p:spPr>
              <a:xfrm>
                <a:off x="10734675" y="2333625"/>
                <a:ext cx="304800" cy="5334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B9E869B-3CBE-4472-AE73-2ADF54B64AA6}"/>
                  </a:ext>
                </a:extLst>
              </p:cNvPr>
              <p:cNvSpPr/>
              <p:nvPr/>
            </p:nvSpPr>
            <p:spPr>
              <a:xfrm>
                <a:off x="10877550" y="2371726"/>
                <a:ext cx="152400" cy="46672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B5562E9-D347-4A41-97F1-EBC27B43E2B4}"/>
                  </a:ext>
                </a:extLst>
              </p:cNvPr>
              <p:cNvSpPr/>
              <p:nvPr/>
            </p:nvSpPr>
            <p:spPr>
              <a:xfrm>
                <a:off x="911226" y="2500841"/>
                <a:ext cx="107950" cy="20214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3058892A-8762-4AFC-8697-69D54CE12C72}"/>
                </a:ext>
              </a:extLst>
            </p:cNvPr>
            <p:cNvCxnSpPr/>
            <p:nvPr/>
          </p:nvCxnSpPr>
          <p:spPr>
            <a:xfrm>
              <a:off x="8439150" y="1876426"/>
              <a:ext cx="2667000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80E66910-960B-4846-BECE-4879915B8697}"/>
                </a:ext>
              </a:extLst>
            </p:cNvPr>
            <p:cNvSpPr txBox="1"/>
            <p:nvPr/>
          </p:nvSpPr>
          <p:spPr>
            <a:xfrm>
              <a:off x="9402402" y="1866901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15 cm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C5C034A-E969-454B-8F55-3976323D552A}"/>
                </a:ext>
              </a:extLst>
            </p:cNvPr>
            <p:cNvSpPr txBox="1"/>
            <p:nvPr/>
          </p:nvSpPr>
          <p:spPr>
            <a:xfrm>
              <a:off x="1562100" y="1880367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10 cm</a:t>
              </a:r>
            </a:p>
          </p:txBody>
        </p: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14B80C03-9C6B-40BC-B040-A30CDA0258CF}"/>
                </a:ext>
              </a:extLst>
            </p:cNvPr>
            <p:cNvCxnSpPr>
              <a:cxnSpLocks/>
            </p:cNvCxnSpPr>
            <p:nvPr/>
          </p:nvCxnSpPr>
          <p:spPr>
            <a:xfrm>
              <a:off x="971550" y="1914775"/>
              <a:ext cx="2008548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EEF0A3C6-FAA7-4B3C-85DB-554FAA1D3434}"/>
                </a:ext>
              </a:extLst>
            </p:cNvPr>
            <p:cNvCxnSpPr>
              <a:cxnSpLocks/>
            </p:cNvCxnSpPr>
            <p:nvPr/>
          </p:nvCxnSpPr>
          <p:spPr>
            <a:xfrm>
              <a:off x="968376" y="684989"/>
              <a:ext cx="10128249" cy="12978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BB1F1F53-594F-4ABD-8208-5B3BD12585E9}"/>
                </a:ext>
              </a:extLst>
            </p:cNvPr>
            <p:cNvSpPr txBox="1"/>
            <p:nvPr/>
          </p:nvSpPr>
          <p:spPr>
            <a:xfrm>
              <a:off x="5655634" y="292927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50 cm</a:t>
              </a:r>
            </a:p>
          </p:txBody>
        </p: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87152263-F194-4218-B91E-FCB25379F672}"/>
                </a:ext>
              </a:extLst>
            </p:cNvPr>
            <p:cNvCxnSpPr>
              <a:cxnSpLocks/>
            </p:cNvCxnSpPr>
            <p:nvPr/>
          </p:nvCxnSpPr>
          <p:spPr>
            <a:xfrm>
              <a:off x="3544528" y="2022993"/>
              <a:ext cx="4323122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14FA811A-15BF-45D4-94E7-DAFB0D7678FD}"/>
                </a:ext>
              </a:extLst>
            </p:cNvPr>
            <p:cNvSpPr txBox="1"/>
            <p:nvPr/>
          </p:nvSpPr>
          <p:spPr>
            <a:xfrm>
              <a:off x="5509584" y="1995481"/>
              <a:ext cx="7537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18 cm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BB05DA28-7524-45C2-B8E3-9BBA00B507FF}"/>
              </a:ext>
            </a:extLst>
          </p:cNvPr>
          <p:cNvGrpSpPr/>
          <p:nvPr/>
        </p:nvGrpSpPr>
        <p:grpSpPr>
          <a:xfrm>
            <a:off x="4960461" y="3516926"/>
            <a:ext cx="2261551" cy="2933454"/>
            <a:chOff x="240761" y="196162"/>
            <a:chExt cx="2261551" cy="2933454"/>
          </a:xfrm>
        </p:grpSpPr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A2F654D7-B4FA-4FD2-9DFC-1FE9DBECE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26" y="327098"/>
              <a:ext cx="0" cy="1423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76E197AA-BECE-4671-9126-42856FC8713E}"/>
                </a:ext>
              </a:extLst>
            </p:cNvPr>
            <p:cNvCxnSpPr>
              <a:cxnSpLocks/>
            </p:cNvCxnSpPr>
            <p:nvPr/>
          </p:nvCxnSpPr>
          <p:spPr>
            <a:xfrm>
              <a:off x="815706" y="202601"/>
              <a:ext cx="7276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2E2FA0E6-72E4-4150-B25A-1BA410F7E15C}"/>
                </a:ext>
              </a:extLst>
            </p:cNvPr>
            <p:cNvCxnSpPr>
              <a:cxnSpLocks/>
            </p:cNvCxnSpPr>
            <p:nvPr/>
          </p:nvCxnSpPr>
          <p:spPr>
            <a:xfrm>
              <a:off x="1543362" y="196162"/>
              <a:ext cx="0" cy="38851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525BF7E-2ECE-4885-AA27-A02181D69BE7}"/>
                </a:ext>
              </a:extLst>
            </p:cNvPr>
            <p:cNvSpPr/>
            <p:nvPr/>
          </p:nvSpPr>
          <p:spPr>
            <a:xfrm>
              <a:off x="1459650" y="591116"/>
              <a:ext cx="160956" cy="32197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D0953EA8-05B3-4924-B900-644CDE5590D2}"/>
                </a:ext>
              </a:extLst>
            </p:cNvPr>
            <p:cNvCxnSpPr>
              <a:cxnSpLocks/>
            </p:cNvCxnSpPr>
            <p:nvPr/>
          </p:nvCxnSpPr>
          <p:spPr>
            <a:xfrm>
              <a:off x="1543362" y="913087"/>
              <a:ext cx="0" cy="38851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riangle isocèle 36">
              <a:extLst>
                <a:ext uri="{FF2B5EF4-FFF2-40B4-BE49-F238E27FC236}">
                  <a16:creationId xmlns:a16="http://schemas.microsoft.com/office/drawing/2014/main" id="{6DC235BE-22C8-42AB-8C96-738C3C4F7E89}"/>
                </a:ext>
              </a:extLst>
            </p:cNvPr>
            <p:cNvSpPr/>
            <p:nvPr/>
          </p:nvSpPr>
          <p:spPr>
            <a:xfrm rot="10800000">
              <a:off x="1395254" y="1301599"/>
              <a:ext cx="289732" cy="191031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A79EC6FD-A5FD-4F10-9E9D-D8A7A59E6711}"/>
                </a:ext>
              </a:extLst>
            </p:cNvPr>
            <p:cNvCxnSpPr>
              <a:cxnSpLocks/>
            </p:cNvCxnSpPr>
            <p:nvPr/>
          </p:nvCxnSpPr>
          <p:spPr>
            <a:xfrm>
              <a:off x="1543362" y="1492631"/>
              <a:ext cx="0" cy="38851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D620A22E-764B-497D-99D7-60A4B5963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7401" y="1492631"/>
              <a:ext cx="28759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40A9CD21-81E9-40FE-81A6-79BC3891E817}"/>
                </a:ext>
              </a:extLst>
            </p:cNvPr>
            <p:cNvCxnSpPr>
              <a:cxnSpLocks/>
            </p:cNvCxnSpPr>
            <p:nvPr/>
          </p:nvCxnSpPr>
          <p:spPr>
            <a:xfrm>
              <a:off x="815706" y="1885440"/>
              <a:ext cx="73407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6C575282-1860-441D-B172-E0BB07F01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552" y="234801"/>
              <a:ext cx="0" cy="7877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6E44B196-BAE1-4594-8B19-4338A9527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552" y="1114857"/>
              <a:ext cx="2148" cy="712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C37C2F8C-786A-4078-A7A8-2A6AD542D8E7}"/>
                </a:ext>
              </a:extLst>
            </p:cNvPr>
            <p:cNvCxnSpPr>
              <a:cxnSpLocks/>
            </p:cNvCxnSpPr>
            <p:nvPr/>
          </p:nvCxnSpPr>
          <p:spPr>
            <a:xfrm>
              <a:off x="1543337" y="234801"/>
              <a:ext cx="0" cy="2189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67B454BE-5DDF-4500-8F33-4796F377BB91}"/>
                </a:ext>
              </a:extLst>
            </p:cNvPr>
            <p:cNvSpPr txBox="1"/>
            <p:nvPr/>
          </p:nvSpPr>
          <p:spPr>
            <a:xfrm>
              <a:off x="1301053" y="210843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i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F036630A-CFB2-4959-A214-F4C6284F5BA4}"/>
                </a:ext>
              </a:extLst>
            </p:cNvPr>
            <p:cNvSpPr txBox="1"/>
            <p:nvPr/>
          </p:nvSpPr>
          <p:spPr>
            <a:xfrm>
              <a:off x="240761" y="802330"/>
              <a:ext cx="632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V</a:t>
              </a:r>
              <a:r>
                <a:rPr lang="fr-FR" baseline="-25000" dirty="0"/>
                <a:t>GPIO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F0F11D3F-2EB8-434F-B3E3-61DC6F8DC578}"/>
                </a:ext>
              </a:extLst>
            </p:cNvPr>
            <p:cNvSpPr txBox="1"/>
            <p:nvPr/>
          </p:nvSpPr>
          <p:spPr>
            <a:xfrm>
              <a:off x="1845594" y="543755"/>
              <a:ext cx="6567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V</a:t>
              </a:r>
              <a:r>
                <a:rPr lang="fr-FR" baseline="-25000" dirty="0" err="1"/>
                <a:t>r</a:t>
              </a:r>
              <a:r>
                <a:rPr lang="fr-FR" dirty="0"/>
                <a:t>=Ri</a:t>
              </a:r>
              <a:endParaRPr lang="fr-FR" baseline="-25000" dirty="0"/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5FF65256-FB8F-400B-ABF2-A1D6B703CFB1}"/>
                </a:ext>
              </a:extLst>
            </p:cNvPr>
            <p:cNvSpPr txBox="1"/>
            <p:nvPr/>
          </p:nvSpPr>
          <p:spPr>
            <a:xfrm>
              <a:off x="1865914" y="1237849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V</a:t>
              </a:r>
              <a:r>
                <a:rPr lang="fr-FR" baseline="-25000" dirty="0"/>
                <a:t>f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FD565E9-E75E-4338-B160-8449F36A52E4}"/>
                </a:ext>
              </a:extLst>
            </p:cNvPr>
            <p:cNvSpPr/>
            <p:nvPr/>
          </p:nvSpPr>
          <p:spPr>
            <a:xfrm>
              <a:off x="1166577" y="563853"/>
              <a:ext cx="30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/>
                <a:t>R</a:t>
              </a:r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289BEC99-AF84-4BB3-A1AF-DC5AA21D27FB}"/>
                </a:ext>
              </a:extLst>
            </p:cNvPr>
            <p:cNvGrpSpPr/>
            <p:nvPr/>
          </p:nvGrpSpPr>
          <p:grpSpPr>
            <a:xfrm>
              <a:off x="607067" y="2407185"/>
              <a:ext cx="1261476" cy="722431"/>
              <a:chOff x="4866918" y="3003927"/>
              <a:chExt cx="1261476" cy="722431"/>
            </a:xfrm>
          </p:grpSpPr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BBBA9C6D-9685-40C1-A419-8B05700147FC}"/>
                  </a:ext>
                </a:extLst>
              </p:cNvPr>
              <p:cNvSpPr txBox="1"/>
              <p:nvPr/>
            </p:nvSpPr>
            <p:spPr>
              <a:xfrm>
                <a:off x="4866918" y="3172360"/>
                <a:ext cx="4780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R =</a:t>
                </a: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F11BED76-4DF9-414D-A9A5-AADE8B2585FA}"/>
                  </a:ext>
                </a:extLst>
              </p:cNvPr>
              <p:cNvSpPr txBox="1"/>
              <p:nvPr/>
            </p:nvSpPr>
            <p:spPr>
              <a:xfrm>
                <a:off x="5247640" y="3003927"/>
                <a:ext cx="880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V</a:t>
                </a:r>
                <a:r>
                  <a:rPr lang="fr-FR" baseline="-25000" dirty="0"/>
                  <a:t>GPIO</a:t>
                </a:r>
                <a:r>
                  <a:rPr lang="fr-FR" dirty="0"/>
                  <a:t>-V</a:t>
                </a:r>
                <a:r>
                  <a:rPr lang="fr-FR" baseline="-25000" dirty="0"/>
                  <a:t>f</a:t>
                </a:r>
              </a:p>
            </p:txBody>
          </p:sp>
          <p:cxnSp>
            <p:nvCxnSpPr>
              <p:cNvPr id="52" name="Connecteur droit avec flèche 51">
                <a:extLst>
                  <a:ext uri="{FF2B5EF4-FFF2-40B4-BE49-F238E27FC236}">
                    <a16:creationId xmlns:a16="http://schemas.microsoft.com/office/drawing/2014/main" id="{26BD5E33-1809-4A6C-A126-D1ACC5BD7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4189" y="3370898"/>
                <a:ext cx="7276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F5876999-FB26-4ADB-B8FE-A6BEAF922A7D}"/>
                  </a:ext>
                </a:extLst>
              </p:cNvPr>
              <p:cNvSpPr txBox="1"/>
              <p:nvPr/>
            </p:nvSpPr>
            <p:spPr>
              <a:xfrm>
                <a:off x="5530671" y="3357026"/>
                <a:ext cx="237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i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529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e 55">
            <a:extLst>
              <a:ext uri="{FF2B5EF4-FFF2-40B4-BE49-F238E27FC236}">
                <a16:creationId xmlns:a16="http://schemas.microsoft.com/office/drawing/2014/main" id="{2EB25167-8014-4DBE-A032-DAD5AB96BC86}"/>
              </a:ext>
            </a:extLst>
          </p:cNvPr>
          <p:cNvGrpSpPr/>
          <p:nvPr/>
        </p:nvGrpSpPr>
        <p:grpSpPr>
          <a:xfrm>
            <a:off x="7591725" y="3782291"/>
            <a:ext cx="2248577" cy="1440000"/>
            <a:chOff x="4781029" y="4205513"/>
            <a:chExt cx="2248577" cy="1440000"/>
          </a:xfrm>
        </p:grpSpPr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12D578F1-C07B-4D39-9212-C3B3F26C7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7501" y="4205513"/>
              <a:ext cx="1722105" cy="1440000"/>
            </a:xfrm>
            <a:prstGeom prst="rect">
              <a:avLst/>
            </a:prstGeom>
          </p:spPr>
        </p:pic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E7FAAF99-8951-4E69-92BC-E95BCF8A312E}"/>
                </a:ext>
              </a:extLst>
            </p:cNvPr>
            <p:cNvCxnSpPr>
              <a:cxnSpLocks/>
            </p:cNvCxnSpPr>
            <p:nvPr/>
          </p:nvCxnSpPr>
          <p:spPr>
            <a:xfrm>
              <a:off x="5307501" y="4968924"/>
              <a:ext cx="4572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E9FDF141-1D9E-49B7-B299-76C263EF6C4C}"/>
                </a:ext>
              </a:extLst>
            </p:cNvPr>
            <p:cNvCxnSpPr>
              <a:cxnSpLocks/>
            </p:cNvCxnSpPr>
            <p:nvPr/>
          </p:nvCxnSpPr>
          <p:spPr>
            <a:xfrm>
              <a:off x="5764701" y="4569749"/>
              <a:ext cx="0" cy="63737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0CA6D758-13E4-437B-B884-33556403CAEC}"/>
                </a:ext>
              </a:extLst>
            </p:cNvPr>
            <p:cNvSpPr txBox="1"/>
            <p:nvPr/>
          </p:nvSpPr>
          <p:spPr>
            <a:xfrm>
              <a:off x="4781029" y="5030219"/>
              <a:ext cx="9702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200" b="1" i="0" u="none" strike="noStrike" baseline="0" dirty="0">
                  <a:solidFill>
                    <a:srgbClr val="FF0000"/>
                  </a:solidFill>
                  <a:latin typeface="ArialRegular"/>
                </a:rPr>
                <a:t>12.69 mm</a:t>
              </a:r>
              <a:endParaRPr lang="fr-FR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B712028A-6595-48B2-AAB2-21160938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3" y="174956"/>
            <a:ext cx="4461553" cy="33010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7B664F1-47B5-44C9-A8F2-1BB2B15ECE27}"/>
              </a:ext>
            </a:extLst>
          </p:cNvPr>
          <p:cNvSpPr txBox="1"/>
          <p:nvPr/>
        </p:nvSpPr>
        <p:spPr>
          <a:xfrm>
            <a:off x="5671933" y="80755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i="0" u="none" strike="noStrike" baseline="0" dirty="0">
                <a:latin typeface="ArialRegular"/>
              </a:rPr>
              <a:t>Documentation de l’ </a:t>
            </a:r>
            <a:r>
              <a:rPr lang="fr-FR" sz="1200" b="1" i="0" u="none" strike="noStrike" baseline="0" dirty="0">
                <a:latin typeface="ArialRegular"/>
              </a:rPr>
              <a:t>O</a:t>
            </a:r>
            <a:r>
              <a:rPr lang="fr-FR" sz="1200" b="1" i="0" u="none" strike="noStrike" baseline="0" dirty="0">
                <a:latin typeface="ArialBold"/>
              </a:rPr>
              <a:t>bjectif à Distance Focale Fixe Série UC 4 mm   #33-300</a:t>
            </a:r>
            <a:endParaRPr lang="fr-FR" sz="1200" b="0" i="0" u="none" strike="noStrike" baseline="0" dirty="0">
              <a:latin typeface="ArialRegular"/>
            </a:endParaRPr>
          </a:p>
          <a:p>
            <a:pPr algn="ctr"/>
            <a:r>
              <a:rPr lang="fr-FR" sz="1800" b="1" i="0" u="none" strike="noStrike" baseline="0" dirty="0">
                <a:latin typeface="ArialRegular"/>
              </a:rPr>
              <a:t>Position de la Pupille d'Entrée (mm): 12.69</a:t>
            </a:r>
          </a:p>
          <a:p>
            <a:pPr algn="ctr"/>
            <a:r>
              <a:rPr lang="fr-FR" dirty="0">
                <a:latin typeface="ArialRegular"/>
              </a:rPr>
              <a:t>(par rapport à la « First Surface »)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7D68A48-A9B1-4614-9809-41EEDB76B1BF}"/>
              </a:ext>
            </a:extLst>
          </p:cNvPr>
          <p:cNvCxnSpPr>
            <a:cxnSpLocks/>
          </p:cNvCxnSpPr>
          <p:nvPr/>
        </p:nvCxnSpPr>
        <p:spPr>
          <a:xfrm>
            <a:off x="1524000" y="25941"/>
            <a:ext cx="0" cy="41115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AF11A24-88A5-47D8-8179-568DE5A77235}"/>
              </a:ext>
            </a:extLst>
          </p:cNvPr>
          <p:cNvGrpSpPr/>
          <p:nvPr/>
        </p:nvGrpSpPr>
        <p:grpSpPr>
          <a:xfrm>
            <a:off x="4262449" y="3130692"/>
            <a:ext cx="3081964" cy="2743201"/>
            <a:chOff x="1805761" y="3625033"/>
            <a:chExt cx="3081964" cy="2743201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FABEB76B-1344-4843-84FF-3320EBB69918}"/>
                </a:ext>
              </a:extLst>
            </p:cNvPr>
            <p:cNvGrpSpPr/>
            <p:nvPr/>
          </p:nvGrpSpPr>
          <p:grpSpPr>
            <a:xfrm>
              <a:off x="2144525" y="3625033"/>
              <a:ext cx="2743200" cy="2743201"/>
              <a:chOff x="6096000" y="2905328"/>
              <a:chExt cx="2743200" cy="2743201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CF44C51D-169E-4616-A9BF-E95507E3E13E}"/>
                  </a:ext>
                </a:extLst>
              </p:cNvPr>
              <p:cNvSpPr/>
              <p:nvPr/>
            </p:nvSpPr>
            <p:spPr>
              <a:xfrm rot="10800000">
                <a:off x="6096000" y="2905328"/>
                <a:ext cx="2743200" cy="2743200"/>
              </a:xfrm>
              <a:prstGeom prst="arc">
                <a:avLst>
                  <a:gd name="adj1" fmla="val 16200000"/>
                  <a:gd name="adj2" fmla="val 540681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D85498BC-D7C8-4796-8029-E58199808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7600" y="2905328"/>
                <a:ext cx="0" cy="27432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0F54F411-55AE-46A2-9E60-1A60F3D28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2233" y="4276633"/>
              <a:ext cx="1722105" cy="1440000"/>
            </a:xfrm>
            <a:prstGeom prst="rect">
              <a:avLst/>
            </a:prstGeom>
          </p:spPr>
        </p:pic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E26B522B-0594-47E5-B44A-18A892B20E46}"/>
                </a:ext>
              </a:extLst>
            </p:cNvPr>
            <p:cNvCxnSpPr>
              <a:cxnSpLocks/>
            </p:cNvCxnSpPr>
            <p:nvPr/>
          </p:nvCxnSpPr>
          <p:spPr>
            <a:xfrm>
              <a:off x="2144524" y="4996633"/>
              <a:ext cx="13716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8DC89521-D352-4D21-9FE9-77E1B2BDC855}"/>
                </a:ext>
              </a:extLst>
            </p:cNvPr>
            <p:cNvCxnSpPr>
              <a:cxnSpLocks/>
            </p:cNvCxnSpPr>
            <p:nvPr/>
          </p:nvCxnSpPr>
          <p:spPr>
            <a:xfrm>
              <a:off x="2332233" y="5040044"/>
              <a:ext cx="4572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6160F721-6DB2-468D-8A3C-19A2321B970C}"/>
                </a:ext>
              </a:extLst>
            </p:cNvPr>
            <p:cNvCxnSpPr>
              <a:cxnSpLocks/>
            </p:cNvCxnSpPr>
            <p:nvPr/>
          </p:nvCxnSpPr>
          <p:spPr>
            <a:xfrm>
              <a:off x="2789433" y="4640869"/>
              <a:ext cx="0" cy="63737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12550A17-8160-4E17-939A-B3A22E521A2D}"/>
                </a:ext>
              </a:extLst>
            </p:cNvPr>
            <p:cNvCxnSpPr>
              <a:cxnSpLocks/>
            </p:cNvCxnSpPr>
            <p:nvPr/>
          </p:nvCxnSpPr>
          <p:spPr>
            <a:xfrm>
              <a:off x="2789433" y="5111164"/>
              <a:ext cx="726691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B4DB0F2F-220C-4DDB-B1AA-6BDD6F483797}"/>
                </a:ext>
              </a:extLst>
            </p:cNvPr>
            <p:cNvSpPr txBox="1"/>
            <p:nvPr/>
          </p:nvSpPr>
          <p:spPr>
            <a:xfrm>
              <a:off x="2890520" y="5067753"/>
              <a:ext cx="919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rgbClr val="FF0000"/>
                  </a:solidFill>
                </a:rPr>
                <a:t>20 mm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CDF18E8-01C7-4978-B450-AF083F8B6A2E}"/>
                </a:ext>
              </a:extLst>
            </p:cNvPr>
            <p:cNvSpPr txBox="1"/>
            <p:nvPr/>
          </p:nvSpPr>
          <p:spPr>
            <a:xfrm>
              <a:off x="1805761" y="5101339"/>
              <a:ext cx="9702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200" b="1" i="0" u="none" strike="noStrike" baseline="0" dirty="0">
                  <a:solidFill>
                    <a:srgbClr val="FF0000"/>
                  </a:solidFill>
                  <a:latin typeface="ArialRegular"/>
                </a:rPr>
                <a:t>12.69 mm</a:t>
              </a:r>
              <a:endParaRPr lang="fr-FR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22DF5EFD-1910-4757-BFB7-7C26A2F4F678}"/>
                </a:ext>
              </a:extLst>
            </p:cNvPr>
            <p:cNvCxnSpPr>
              <a:cxnSpLocks/>
            </p:cNvCxnSpPr>
            <p:nvPr/>
          </p:nvCxnSpPr>
          <p:spPr>
            <a:xfrm>
              <a:off x="3578102" y="3625033"/>
              <a:ext cx="0" cy="137160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5E638F27-5D27-4EA0-BF3D-20DAEB378FFA}"/>
                </a:ext>
              </a:extLst>
            </p:cNvPr>
            <p:cNvSpPr txBox="1"/>
            <p:nvPr/>
          </p:nvSpPr>
          <p:spPr>
            <a:xfrm>
              <a:off x="3566273" y="3897736"/>
              <a:ext cx="919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solidFill>
                    <a:srgbClr val="FF0000"/>
                  </a:solidFill>
                </a:rPr>
                <a:t>38,1 mm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977E5AE2-7C1C-4DD8-A313-CCAE2669D9C6}"/>
              </a:ext>
            </a:extLst>
          </p:cNvPr>
          <p:cNvGrpSpPr/>
          <p:nvPr/>
        </p:nvGrpSpPr>
        <p:grpSpPr>
          <a:xfrm>
            <a:off x="7206589" y="3130691"/>
            <a:ext cx="2743200" cy="2743201"/>
            <a:chOff x="6096000" y="2905328"/>
            <a:chExt cx="2743200" cy="2743201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05EB7CA4-0215-4725-B151-7D00BBB43696}"/>
                </a:ext>
              </a:extLst>
            </p:cNvPr>
            <p:cNvSpPr/>
            <p:nvPr/>
          </p:nvSpPr>
          <p:spPr>
            <a:xfrm rot="10800000">
              <a:off x="6096000" y="2905328"/>
              <a:ext cx="2743200" cy="2743200"/>
            </a:xfrm>
            <a:prstGeom prst="arc">
              <a:avLst>
                <a:gd name="adj1" fmla="val 16200000"/>
                <a:gd name="adj2" fmla="val 540681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9C773C5D-5FF8-46E3-A705-087693374833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00" y="2905328"/>
              <a:ext cx="0" cy="27432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997DB93F-1B5F-40CA-BB7D-2C0F143DD119}"/>
              </a:ext>
            </a:extLst>
          </p:cNvPr>
          <p:cNvCxnSpPr>
            <a:cxnSpLocks/>
          </p:cNvCxnSpPr>
          <p:nvPr/>
        </p:nvCxnSpPr>
        <p:spPr>
          <a:xfrm>
            <a:off x="7206588" y="4502291"/>
            <a:ext cx="1371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82FE732-A521-4361-824F-5971B1E0B657}"/>
              </a:ext>
            </a:extLst>
          </p:cNvPr>
          <p:cNvCxnSpPr>
            <a:cxnSpLocks/>
          </p:cNvCxnSpPr>
          <p:nvPr/>
        </p:nvCxnSpPr>
        <p:spPr>
          <a:xfrm>
            <a:off x="8640166" y="3130691"/>
            <a:ext cx="0" cy="13716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53420754-AE13-41D7-9CD9-1871709CB10A}"/>
              </a:ext>
            </a:extLst>
          </p:cNvPr>
          <p:cNvSpPr txBox="1"/>
          <p:nvPr/>
        </p:nvSpPr>
        <p:spPr>
          <a:xfrm>
            <a:off x="8628337" y="3403394"/>
            <a:ext cx="91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</a:rPr>
              <a:t>38,1 mm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4ACB556-04BC-460F-B858-16EFC9E45045}"/>
              </a:ext>
            </a:extLst>
          </p:cNvPr>
          <p:cNvSpPr txBox="1"/>
          <p:nvPr/>
        </p:nvSpPr>
        <p:spPr>
          <a:xfrm>
            <a:off x="4554529" y="5922385"/>
            <a:ext cx="21098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Configuration KOSMOS</a:t>
            </a:r>
            <a:br>
              <a:rPr lang="fr-FR" sz="1100" dirty="0"/>
            </a:br>
            <a:r>
              <a:rPr lang="fr-FR" sz="1100" dirty="0"/>
              <a:t>L’objectif est trop avancé de 2 cm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2663EF72-5CB6-4405-A421-BCEEA4353F96}"/>
              </a:ext>
            </a:extLst>
          </p:cNvPr>
          <p:cNvSpPr txBox="1"/>
          <p:nvPr/>
        </p:nvSpPr>
        <p:spPr>
          <a:xfrm>
            <a:off x="8485340" y="5555341"/>
            <a:ext cx="2614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Configuration optimale</a:t>
            </a:r>
          </a:p>
          <a:p>
            <a:pPr algn="ctr"/>
            <a:r>
              <a:rPr lang="fr-FR" sz="1100" dirty="0"/>
              <a:t>Le centre du hublot hémisphérique coïncide avec la pupille d’entrée 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8E63D25E-8A46-42D6-B478-EF7FF31B7202}"/>
              </a:ext>
            </a:extLst>
          </p:cNvPr>
          <p:cNvCxnSpPr>
            <a:cxnSpLocks/>
          </p:cNvCxnSpPr>
          <p:nvPr/>
        </p:nvCxnSpPr>
        <p:spPr>
          <a:xfrm>
            <a:off x="791548" y="3531618"/>
            <a:ext cx="732452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0FB9E00-1E95-4806-AD99-94766B1AEEBC}"/>
              </a:ext>
            </a:extLst>
          </p:cNvPr>
          <p:cNvSpPr txBox="1"/>
          <p:nvPr/>
        </p:nvSpPr>
        <p:spPr>
          <a:xfrm>
            <a:off x="672634" y="3587219"/>
            <a:ext cx="97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u="none" strike="noStrike" baseline="0" dirty="0">
                <a:solidFill>
                  <a:srgbClr val="FF0000"/>
                </a:solidFill>
                <a:latin typeface="ArialRegular"/>
              </a:rPr>
              <a:t>12.69 mm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2695A50-6CF9-4538-A219-C90A05D09CB1}"/>
              </a:ext>
            </a:extLst>
          </p:cNvPr>
          <p:cNvSpPr txBox="1"/>
          <p:nvPr/>
        </p:nvSpPr>
        <p:spPr>
          <a:xfrm>
            <a:off x="1505554" y="3862359"/>
            <a:ext cx="1321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u="none" strike="noStrike" baseline="0" dirty="0">
                <a:solidFill>
                  <a:srgbClr val="FF0000"/>
                </a:solidFill>
                <a:latin typeface="ArialRegular"/>
              </a:rPr>
              <a:t>Plan de la pupille d’entrée</a:t>
            </a:r>
            <a:endParaRPr lang="fr-F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80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e 55">
            <a:extLst>
              <a:ext uri="{FF2B5EF4-FFF2-40B4-BE49-F238E27FC236}">
                <a16:creationId xmlns:a16="http://schemas.microsoft.com/office/drawing/2014/main" id="{2EB25167-8014-4DBE-A032-DAD5AB96BC86}"/>
              </a:ext>
            </a:extLst>
          </p:cNvPr>
          <p:cNvGrpSpPr/>
          <p:nvPr/>
        </p:nvGrpSpPr>
        <p:grpSpPr>
          <a:xfrm>
            <a:off x="8170845" y="3335251"/>
            <a:ext cx="2248577" cy="1440000"/>
            <a:chOff x="4781029" y="4205513"/>
            <a:chExt cx="2248577" cy="1440000"/>
          </a:xfrm>
        </p:grpSpPr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12D578F1-C07B-4D39-9212-C3B3F26C7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7501" y="4205513"/>
              <a:ext cx="1722105" cy="1440000"/>
            </a:xfrm>
            <a:prstGeom prst="rect">
              <a:avLst/>
            </a:prstGeom>
          </p:spPr>
        </p:pic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E7FAAF99-8951-4E69-92BC-E95BCF8A312E}"/>
                </a:ext>
              </a:extLst>
            </p:cNvPr>
            <p:cNvCxnSpPr>
              <a:cxnSpLocks/>
            </p:cNvCxnSpPr>
            <p:nvPr/>
          </p:nvCxnSpPr>
          <p:spPr>
            <a:xfrm>
              <a:off x="5307501" y="4968924"/>
              <a:ext cx="4572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E9FDF141-1D9E-49B7-B299-76C263EF6C4C}"/>
                </a:ext>
              </a:extLst>
            </p:cNvPr>
            <p:cNvCxnSpPr>
              <a:cxnSpLocks/>
            </p:cNvCxnSpPr>
            <p:nvPr/>
          </p:nvCxnSpPr>
          <p:spPr>
            <a:xfrm>
              <a:off x="5764701" y="4569749"/>
              <a:ext cx="0" cy="63737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0CA6D758-13E4-437B-B884-33556403CAEC}"/>
                </a:ext>
              </a:extLst>
            </p:cNvPr>
            <p:cNvSpPr txBox="1"/>
            <p:nvPr/>
          </p:nvSpPr>
          <p:spPr>
            <a:xfrm>
              <a:off x="4781029" y="5030219"/>
              <a:ext cx="9702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200" b="1" i="0" u="none" strike="noStrike" baseline="0" dirty="0">
                  <a:solidFill>
                    <a:srgbClr val="FF0000"/>
                  </a:solidFill>
                  <a:latin typeface="ArialRegular"/>
                </a:rPr>
                <a:t>12.69 mm</a:t>
              </a:r>
              <a:endParaRPr lang="fr-FR" sz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B712028A-6595-48B2-AAB2-21160938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3" y="174956"/>
            <a:ext cx="4461553" cy="33010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7B664F1-47B5-44C9-A8F2-1BB2B15ECE27}"/>
              </a:ext>
            </a:extLst>
          </p:cNvPr>
          <p:cNvSpPr txBox="1"/>
          <p:nvPr/>
        </p:nvSpPr>
        <p:spPr>
          <a:xfrm>
            <a:off x="5671933" y="80755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i="0" u="none" strike="noStrike" baseline="0" dirty="0">
                <a:latin typeface="ArialRegular"/>
              </a:rPr>
              <a:t>Documentation de l’ </a:t>
            </a:r>
            <a:r>
              <a:rPr lang="fr-FR" sz="1200" b="1" i="0" u="none" strike="noStrike" baseline="0" dirty="0">
                <a:latin typeface="ArialRegular"/>
              </a:rPr>
              <a:t>O</a:t>
            </a:r>
            <a:r>
              <a:rPr lang="fr-FR" sz="1200" b="1" i="0" u="none" strike="noStrike" baseline="0" dirty="0">
                <a:latin typeface="ArialBold"/>
              </a:rPr>
              <a:t>bjectif à Distance Focale Fixe Série UC 4 mm   #33-300</a:t>
            </a:r>
            <a:endParaRPr lang="fr-FR" sz="1200" b="0" i="0" u="none" strike="noStrike" baseline="0" dirty="0">
              <a:latin typeface="ArialRegular"/>
            </a:endParaRPr>
          </a:p>
          <a:p>
            <a:pPr algn="ctr"/>
            <a:r>
              <a:rPr lang="fr-FR" sz="1800" b="1" i="0" u="none" strike="noStrike" baseline="0" dirty="0">
                <a:latin typeface="ArialRegular"/>
              </a:rPr>
              <a:t>Position de la Pupille d'Entrée (mm): 12.69</a:t>
            </a:r>
          </a:p>
          <a:p>
            <a:pPr algn="ctr"/>
            <a:r>
              <a:rPr lang="fr-FR" dirty="0">
                <a:latin typeface="ArialRegular"/>
              </a:rPr>
              <a:t>(par rapport à la « First Surface »)</a:t>
            </a:r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7D68A48-A9B1-4614-9809-41EEDB76B1BF}"/>
              </a:ext>
            </a:extLst>
          </p:cNvPr>
          <p:cNvCxnSpPr>
            <a:cxnSpLocks/>
          </p:cNvCxnSpPr>
          <p:nvPr/>
        </p:nvCxnSpPr>
        <p:spPr>
          <a:xfrm>
            <a:off x="1524000" y="25941"/>
            <a:ext cx="0" cy="41115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e 2">
            <a:extLst>
              <a:ext uri="{FF2B5EF4-FFF2-40B4-BE49-F238E27FC236}">
                <a16:creationId xmlns:a16="http://schemas.microsoft.com/office/drawing/2014/main" id="{F09DF427-C5F8-4F51-B325-532EDFE62EFC}"/>
              </a:ext>
            </a:extLst>
          </p:cNvPr>
          <p:cNvGrpSpPr/>
          <p:nvPr/>
        </p:nvGrpSpPr>
        <p:grpSpPr>
          <a:xfrm>
            <a:off x="4906165" y="3131090"/>
            <a:ext cx="1828800" cy="1833087"/>
            <a:chOff x="4301645" y="3527330"/>
            <a:chExt cx="1828800" cy="1833087"/>
          </a:xfrm>
        </p:grpSpPr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F44C51D-169E-4616-A9BF-E95507E3E13E}"/>
                </a:ext>
              </a:extLst>
            </p:cNvPr>
            <p:cNvSpPr/>
            <p:nvPr/>
          </p:nvSpPr>
          <p:spPr>
            <a:xfrm rot="10800000">
              <a:off x="4301645" y="3531617"/>
              <a:ext cx="1828800" cy="1828800"/>
            </a:xfrm>
            <a:prstGeom prst="arc">
              <a:avLst>
                <a:gd name="adj1" fmla="val 16200000"/>
                <a:gd name="adj2" fmla="val 540681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D85498BC-D7C8-4796-8029-E58199808B31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5216044" y="3527330"/>
              <a:ext cx="1" cy="1833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0F54F411-55AE-46A2-9E60-1A60F3D2855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952" y="3335251"/>
            <a:ext cx="1722105" cy="1440000"/>
          </a:xfrm>
          <a:prstGeom prst="rect">
            <a:avLst/>
          </a:prstGeom>
        </p:spPr>
      </p:pic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E26B522B-0594-47E5-B44A-18A892B20E46}"/>
              </a:ext>
            </a:extLst>
          </p:cNvPr>
          <p:cNvCxnSpPr>
            <a:cxnSpLocks/>
          </p:cNvCxnSpPr>
          <p:nvPr/>
        </p:nvCxnSpPr>
        <p:spPr>
          <a:xfrm>
            <a:off x="4906164" y="4054578"/>
            <a:ext cx="925320" cy="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DC89521-D352-4D21-9FE9-77E1B2BDC855}"/>
              </a:ext>
            </a:extLst>
          </p:cNvPr>
          <p:cNvCxnSpPr>
            <a:cxnSpLocks/>
          </p:cNvCxnSpPr>
          <p:nvPr/>
        </p:nvCxnSpPr>
        <p:spPr>
          <a:xfrm>
            <a:off x="5368952" y="4098662"/>
            <a:ext cx="457200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6160F721-6DB2-468D-8A3C-19A2321B970C}"/>
              </a:ext>
            </a:extLst>
          </p:cNvPr>
          <p:cNvCxnSpPr>
            <a:cxnSpLocks/>
          </p:cNvCxnSpPr>
          <p:nvPr/>
        </p:nvCxnSpPr>
        <p:spPr>
          <a:xfrm>
            <a:off x="5826152" y="3699487"/>
            <a:ext cx="0" cy="6373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7CDF18E8-01C7-4978-B450-AF083F8B6A2E}"/>
              </a:ext>
            </a:extLst>
          </p:cNvPr>
          <p:cNvSpPr txBox="1"/>
          <p:nvPr/>
        </p:nvSpPr>
        <p:spPr>
          <a:xfrm>
            <a:off x="4842480" y="4159957"/>
            <a:ext cx="97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u="none" strike="noStrike" baseline="0" dirty="0">
                <a:solidFill>
                  <a:srgbClr val="FF0000"/>
                </a:solidFill>
                <a:latin typeface="ArialRegular"/>
              </a:rPr>
              <a:t>12.69 mm</a:t>
            </a:r>
            <a:endParaRPr lang="fr-FR" sz="1200" dirty="0">
              <a:solidFill>
                <a:srgbClr val="FF0000"/>
              </a:solidFill>
            </a:endParaRP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2DF5EFD-1910-4757-BFB7-7C26A2F4F678}"/>
              </a:ext>
            </a:extLst>
          </p:cNvPr>
          <p:cNvCxnSpPr>
            <a:cxnSpLocks/>
          </p:cNvCxnSpPr>
          <p:nvPr/>
        </p:nvCxnSpPr>
        <p:spPr>
          <a:xfrm>
            <a:off x="5918994" y="3140178"/>
            <a:ext cx="0" cy="9144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5E638F27-5D27-4EA0-BF3D-20DAEB378FFA}"/>
              </a:ext>
            </a:extLst>
          </p:cNvPr>
          <p:cNvSpPr txBox="1"/>
          <p:nvPr/>
        </p:nvSpPr>
        <p:spPr>
          <a:xfrm>
            <a:off x="5913414" y="3023953"/>
            <a:ext cx="91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</a:rPr>
              <a:t>25.4 mm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977E5AE2-7C1C-4DD8-A313-CCAE2669D9C6}"/>
              </a:ext>
            </a:extLst>
          </p:cNvPr>
          <p:cNvGrpSpPr/>
          <p:nvPr/>
        </p:nvGrpSpPr>
        <p:grpSpPr>
          <a:xfrm>
            <a:off x="7785709" y="2683651"/>
            <a:ext cx="2743200" cy="2743201"/>
            <a:chOff x="6096000" y="2905328"/>
            <a:chExt cx="2743200" cy="2743201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05EB7CA4-0215-4725-B151-7D00BBB43696}"/>
                </a:ext>
              </a:extLst>
            </p:cNvPr>
            <p:cNvSpPr/>
            <p:nvPr/>
          </p:nvSpPr>
          <p:spPr>
            <a:xfrm rot="10800000">
              <a:off x="6096000" y="2905328"/>
              <a:ext cx="2743200" cy="2743200"/>
            </a:xfrm>
            <a:prstGeom prst="arc">
              <a:avLst>
                <a:gd name="adj1" fmla="val 16200000"/>
                <a:gd name="adj2" fmla="val 540681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46" name="Connecteur droit 45">
              <a:extLst>
                <a:ext uri="{FF2B5EF4-FFF2-40B4-BE49-F238E27FC236}">
                  <a16:creationId xmlns:a16="http://schemas.microsoft.com/office/drawing/2014/main" id="{9C773C5D-5FF8-46E3-A705-087693374833}"/>
                </a:ext>
              </a:extLst>
            </p:cNvPr>
            <p:cNvCxnSpPr>
              <a:cxnSpLocks/>
            </p:cNvCxnSpPr>
            <p:nvPr/>
          </p:nvCxnSpPr>
          <p:spPr>
            <a:xfrm>
              <a:off x="7467600" y="2905328"/>
              <a:ext cx="0" cy="27432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997DB93F-1B5F-40CA-BB7D-2C0F143DD119}"/>
              </a:ext>
            </a:extLst>
          </p:cNvPr>
          <p:cNvCxnSpPr>
            <a:cxnSpLocks/>
          </p:cNvCxnSpPr>
          <p:nvPr/>
        </p:nvCxnSpPr>
        <p:spPr>
          <a:xfrm>
            <a:off x="7785708" y="4055251"/>
            <a:ext cx="1371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82FE732-A521-4361-824F-5971B1E0B657}"/>
              </a:ext>
            </a:extLst>
          </p:cNvPr>
          <p:cNvCxnSpPr>
            <a:cxnSpLocks/>
          </p:cNvCxnSpPr>
          <p:nvPr/>
        </p:nvCxnSpPr>
        <p:spPr>
          <a:xfrm>
            <a:off x="9219286" y="2683651"/>
            <a:ext cx="0" cy="13716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53420754-AE13-41D7-9CD9-1871709CB10A}"/>
              </a:ext>
            </a:extLst>
          </p:cNvPr>
          <p:cNvSpPr txBox="1"/>
          <p:nvPr/>
        </p:nvSpPr>
        <p:spPr>
          <a:xfrm>
            <a:off x="9207457" y="2956354"/>
            <a:ext cx="91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FF0000"/>
                </a:solidFill>
              </a:rPr>
              <a:t>38,1 mm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4ACB556-04BC-460F-B858-16EFC9E45045}"/>
              </a:ext>
            </a:extLst>
          </p:cNvPr>
          <p:cNvSpPr txBox="1"/>
          <p:nvPr/>
        </p:nvSpPr>
        <p:spPr>
          <a:xfrm>
            <a:off x="5317787" y="5099361"/>
            <a:ext cx="1547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b="1" dirty="0"/>
              <a:t>Configuration KOSMOS</a:t>
            </a:r>
            <a:br>
              <a:rPr lang="fr-FR" sz="1100" dirty="0"/>
            </a:br>
            <a:r>
              <a:rPr lang="fr-FR" sz="1100" dirty="0"/>
              <a:t>Caisson 2’’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2663EF72-5CB6-4405-A421-BCEEA4353F96}"/>
              </a:ext>
            </a:extLst>
          </p:cNvPr>
          <p:cNvSpPr txBox="1"/>
          <p:nvPr/>
        </p:nvSpPr>
        <p:spPr>
          <a:xfrm>
            <a:off x="9138542" y="5165111"/>
            <a:ext cx="1709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Configuration KOSMOS </a:t>
            </a:r>
          </a:p>
          <a:p>
            <a:pPr algn="ctr"/>
            <a:r>
              <a:rPr lang="fr-FR" sz="1100" dirty="0"/>
              <a:t>Caisson 3’’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8E63D25E-8A46-42D6-B478-EF7FF31B7202}"/>
              </a:ext>
            </a:extLst>
          </p:cNvPr>
          <p:cNvCxnSpPr>
            <a:cxnSpLocks/>
          </p:cNvCxnSpPr>
          <p:nvPr/>
        </p:nvCxnSpPr>
        <p:spPr>
          <a:xfrm>
            <a:off x="791548" y="3531618"/>
            <a:ext cx="732452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0FB9E00-1E95-4806-AD99-94766B1AEEBC}"/>
              </a:ext>
            </a:extLst>
          </p:cNvPr>
          <p:cNvSpPr txBox="1"/>
          <p:nvPr/>
        </p:nvSpPr>
        <p:spPr>
          <a:xfrm>
            <a:off x="672634" y="3587219"/>
            <a:ext cx="97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u="none" strike="noStrike" baseline="0" dirty="0">
                <a:solidFill>
                  <a:srgbClr val="FF0000"/>
                </a:solidFill>
                <a:latin typeface="ArialRegular"/>
              </a:rPr>
              <a:t>12.69 mm</a:t>
            </a:r>
            <a:endParaRPr lang="fr-FR" sz="1200" dirty="0">
              <a:solidFill>
                <a:srgbClr val="FF0000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2695A50-6CF9-4538-A219-C90A05D09CB1}"/>
              </a:ext>
            </a:extLst>
          </p:cNvPr>
          <p:cNvSpPr txBox="1"/>
          <p:nvPr/>
        </p:nvSpPr>
        <p:spPr>
          <a:xfrm>
            <a:off x="1505554" y="3862359"/>
            <a:ext cx="1321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u="none" strike="noStrike" baseline="0" dirty="0">
                <a:solidFill>
                  <a:srgbClr val="FF0000"/>
                </a:solidFill>
                <a:latin typeface="ArialRegular"/>
              </a:rPr>
              <a:t>Plan de la pupille d’entrée</a:t>
            </a:r>
            <a:endParaRPr lang="fr-F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50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>
            <a:extLst>
              <a:ext uri="{FF2B5EF4-FFF2-40B4-BE49-F238E27FC236}">
                <a16:creationId xmlns:a16="http://schemas.microsoft.com/office/drawing/2014/main" id="{CF44C51D-169E-4616-A9BF-E95507E3E13E}"/>
              </a:ext>
            </a:extLst>
          </p:cNvPr>
          <p:cNvSpPr/>
          <p:nvPr/>
        </p:nvSpPr>
        <p:spPr>
          <a:xfrm rot="10800000">
            <a:off x="6155693" y="1957212"/>
            <a:ext cx="2743200" cy="2743200"/>
          </a:xfrm>
          <a:prstGeom prst="arc">
            <a:avLst>
              <a:gd name="adj1" fmla="val 16200000"/>
              <a:gd name="adj2" fmla="val 54068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E26B522B-0594-47E5-B44A-18A892B20E46}"/>
              </a:ext>
            </a:extLst>
          </p:cNvPr>
          <p:cNvCxnSpPr>
            <a:cxnSpLocks/>
          </p:cNvCxnSpPr>
          <p:nvPr/>
        </p:nvCxnSpPr>
        <p:spPr>
          <a:xfrm>
            <a:off x="167640" y="3328812"/>
            <a:ext cx="11574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E39EC634-8B7E-448B-AF10-8EEF19D7DBD3}"/>
              </a:ext>
            </a:extLst>
          </p:cNvPr>
          <p:cNvSpPr txBox="1"/>
          <p:nvPr/>
        </p:nvSpPr>
        <p:spPr>
          <a:xfrm>
            <a:off x="6800910" y="161668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</a:t>
            </a:r>
            <a:r>
              <a:rPr lang="fr-FR" baseline="-25000" dirty="0"/>
              <a:t>eau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D2F00FD-F72D-4BD9-82ED-5AE403F2BD99}"/>
              </a:ext>
            </a:extLst>
          </p:cNvPr>
          <p:cNvSpPr txBox="1"/>
          <p:nvPr/>
        </p:nvSpPr>
        <p:spPr>
          <a:xfrm>
            <a:off x="7237220" y="1891914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</a:t>
            </a:r>
            <a:r>
              <a:rPr lang="fr-FR" baseline="-25000" dirty="0" err="1"/>
              <a:t>air</a:t>
            </a:r>
            <a:endParaRPr lang="fr-FR" baseline="-250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1BD379E-BEE3-48C5-A7A1-56702FA13912}"/>
              </a:ext>
            </a:extLst>
          </p:cNvPr>
          <p:cNvSpPr txBox="1"/>
          <p:nvPr/>
        </p:nvSpPr>
        <p:spPr>
          <a:xfrm>
            <a:off x="7471419" y="32900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1162858-2F23-4B3E-9C89-28D9DC50FED0}"/>
              </a:ext>
            </a:extLst>
          </p:cNvPr>
          <p:cNvCxnSpPr/>
          <p:nvPr/>
        </p:nvCxnSpPr>
        <p:spPr>
          <a:xfrm>
            <a:off x="1333500" y="3244334"/>
            <a:ext cx="0" cy="169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2563E085-0B0D-48E9-BE2D-4DA6A03E5BAC}"/>
              </a:ext>
            </a:extLst>
          </p:cNvPr>
          <p:cNvSpPr txBox="1"/>
          <p:nvPr/>
        </p:nvSpPr>
        <p:spPr>
          <a:xfrm>
            <a:off x="1166116" y="3327706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D4DA771D-82D4-4E37-882B-882A90CD9742}"/>
              </a:ext>
            </a:extLst>
          </p:cNvPr>
          <p:cNvCxnSpPr/>
          <p:nvPr/>
        </p:nvCxnSpPr>
        <p:spPr>
          <a:xfrm>
            <a:off x="7527293" y="3247016"/>
            <a:ext cx="0" cy="169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E886E1-3317-4DF5-8110-754494F34FFA}"/>
              </a:ext>
            </a:extLst>
          </p:cNvPr>
          <p:cNvCxnSpPr>
            <a:cxnSpLocks/>
          </p:cNvCxnSpPr>
          <p:nvPr/>
        </p:nvCxnSpPr>
        <p:spPr>
          <a:xfrm flipV="1">
            <a:off x="1332778" y="2403765"/>
            <a:ext cx="5178858" cy="925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FE1A907C-6A12-4EE6-9AE8-E864CED344E2}"/>
              </a:ext>
            </a:extLst>
          </p:cNvPr>
          <p:cNvCxnSpPr>
            <a:cxnSpLocks/>
          </p:cNvCxnSpPr>
          <p:nvPr/>
        </p:nvCxnSpPr>
        <p:spPr>
          <a:xfrm flipH="1" flipV="1">
            <a:off x="6310488" y="2222633"/>
            <a:ext cx="1216806" cy="11061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7F911E00-0AB8-468F-A7DD-D3EC30BEBCD7}"/>
              </a:ext>
            </a:extLst>
          </p:cNvPr>
          <p:cNvCxnSpPr>
            <a:cxnSpLocks/>
          </p:cNvCxnSpPr>
          <p:nvPr/>
        </p:nvCxnSpPr>
        <p:spPr>
          <a:xfrm flipV="1">
            <a:off x="6508153" y="2260473"/>
            <a:ext cx="850977" cy="14497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49E68BF6-0E3A-43AE-BE73-F065C12D3E6F}"/>
              </a:ext>
            </a:extLst>
          </p:cNvPr>
          <p:cNvCxnSpPr>
            <a:cxnSpLocks/>
          </p:cNvCxnSpPr>
          <p:nvPr/>
        </p:nvCxnSpPr>
        <p:spPr>
          <a:xfrm>
            <a:off x="4028440" y="3239743"/>
            <a:ext cx="0" cy="169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82AAF44E-B06A-4AF6-9690-FEC089A26FF6}"/>
              </a:ext>
            </a:extLst>
          </p:cNvPr>
          <p:cNvSpPr txBox="1"/>
          <p:nvPr/>
        </p:nvSpPr>
        <p:spPr>
          <a:xfrm>
            <a:off x="3866117" y="3324387"/>
            <a:ext cx="39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O’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FE91DEDE-2DFF-446F-8504-03A2B06362DC}"/>
              </a:ext>
            </a:extLst>
          </p:cNvPr>
          <p:cNvSpPr txBox="1"/>
          <p:nvPr/>
        </p:nvSpPr>
        <p:spPr>
          <a:xfrm>
            <a:off x="5983262" y="2130724"/>
            <a:ext cx="343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i</a:t>
            </a:r>
            <a:r>
              <a:rPr lang="fr-FR" sz="1000" baseline="-25000" dirty="0" err="1"/>
              <a:t>eau</a:t>
            </a:r>
            <a:endParaRPr lang="fr-FR" sz="1000" baseline="-25000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4FA6F2CF-2DE6-48BB-A2E2-C855E776C5FA}"/>
              </a:ext>
            </a:extLst>
          </p:cNvPr>
          <p:cNvSpPr txBox="1"/>
          <p:nvPr/>
        </p:nvSpPr>
        <p:spPr>
          <a:xfrm>
            <a:off x="6648464" y="2361692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/>
              <a:t>i</a:t>
            </a:r>
            <a:r>
              <a:rPr lang="fr-FR" sz="1000" baseline="-25000" dirty="0" err="1"/>
              <a:t>air</a:t>
            </a:r>
            <a:endParaRPr lang="fr-FR" sz="1000" baseline="-2500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F9827BAC-F71F-45D2-8D16-DFB47C8B9214}"/>
              </a:ext>
            </a:extLst>
          </p:cNvPr>
          <p:cNvSpPr txBox="1"/>
          <p:nvPr/>
        </p:nvSpPr>
        <p:spPr>
          <a:xfrm>
            <a:off x="6819625" y="2745556"/>
            <a:ext cx="247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r</a:t>
            </a:r>
          </a:p>
        </p:txBody>
      </p: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775AB1AE-9B6F-422C-B892-0AD9B7EF22D4}"/>
              </a:ext>
            </a:extLst>
          </p:cNvPr>
          <p:cNvCxnSpPr>
            <a:cxnSpLocks/>
          </p:cNvCxnSpPr>
          <p:nvPr/>
        </p:nvCxnSpPr>
        <p:spPr>
          <a:xfrm>
            <a:off x="1336648" y="3762671"/>
            <a:ext cx="4818296" cy="22134"/>
          </a:xfrm>
          <a:prstGeom prst="straightConnector1">
            <a:avLst/>
          </a:prstGeom>
          <a:ln w="3175">
            <a:solidFill>
              <a:srgbClr val="5D85CC"/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226D5381-415B-4478-9B28-D8BEA7EE257E}"/>
              </a:ext>
            </a:extLst>
          </p:cNvPr>
          <p:cNvCxnSpPr>
            <a:cxnSpLocks/>
          </p:cNvCxnSpPr>
          <p:nvPr/>
        </p:nvCxnSpPr>
        <p:spPr>
          <a:xfrm>
            <a:off x="4027490" y="3646154"/>
            <a:ext cx="2127454" cy="13232"/>
          </a:xfrm>
          <a:prstGeom prst="straightConnector1">
            <a:avLst/>
          </a:prstGeom>
          <a:ln w="3175">
            <a:solidFill>
              <a:srgbClr val="5D85CC"/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0A212297-5E8A-431F-930C-E96554D754A5}"/>
              </a:ext>
            </a:extLst>
          </p:cNvPr>
          <p:cNvSpPr txBox="1"/>
          <p:nvPr/>
        </p:nvSpPr>
        <p:spPr>
          <a:xfrm>
            <a:off x="3278481" y="34770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77D2EAC9-B950-41F1-B928-5710FB5E70AE}"/>
              </a:ext>
            </a:extLst>
          </p:cNvPr>
          <p:cNvSpPr txBox="1"/>
          <p:nvPr/>
        </p:nvSpPr>
        <p:spPr>
          <a:xfrm>
            <a:off x="5204887" y="3368251"/>
            <a:ext cx="326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p’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A37DAA12-BBF6-4DB8-8E3E-EACB3DE19886}"/>
              </a:ext>
            </a:extLst>
          </p:cNvPr>
          <p:cNvSpPr txBox="1"/>
          <p:nvPr/>
        </p:nvSpPr>
        <p:spPr>
          <a:xfrm>
            <a:off x="1927142" y="3114390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dirty="0"/>
              <a:t>α</a:t>
            </a:r>
            <a:endParaRPr lang="fr-FR" sz="1200" dirty="0"/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09A3B4E9-FB5C-4274-8C7D-43E7500F1F81}"/>
              </a:ext>
            </a:extLst>
          </p:cNvPr>
          <p:cNvSpPr txBox="1"/>
          <p:nvPr/>
        </p:nvSpPr>
        <p:spPr>
          <a:xfrm>
            <a:off x="4342015" y="311276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dirty="0"/>
              <a:t>α</a:t>
            </a:r>
            <a:r>
              <a:rPr lang="fr-FR" sz="1200" dirty="0"/>
              <a:t>’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4CC542A5-63D8-4390-AC4C-EA311B669349}"/>
              </a:ext>
            </a:extLst>
          </p:cNvPr>
          <p:cNvSpPr txBox="1"/>
          <p:nvPr/>
        </p:nvSpPr>
        <p:spPr>
          <a:xfrm>
            <a:off x="5356167" y="2085898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000" dirty="0"/>
              <a:t>π</a:t>
            </a:r>
            <a:r>
              <a:rPr lang="fr-FR" sz="1000" dirty="0"/>
              <a:t>-</a:t>
            </a:r>
            <a:r>
              <a:rPr lang="fr-FR" sz="1000" dirty="0" err="1"/>
              <a:t>i</a:t>
            </a:r>
            <a:r>
              <a:rPr lang="fr-FR" sz="1000" baseline="-25000" dirty="0" err="1"/>
              <a:t>eau</a:t>
            </a:r>
            <a:endParaRPr lang="fr-FR" sz="1000" baseline="-25000" dirty="0"/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07C4714F-200C-4787-8AFF-EBA9FCEA7483}"/>
              </a:ext>
            </a:extLst>
          </p:cNvPr>
          <p:cNvCxnSpPr>
            <a:cxnSpLocks/>
          </p:cNvCxnSpPr>
          <p:nvPr/>
        </p:nvCxnSpPr>
        <p:spPr>
          <a:xfrm flipV="1">
            <a:off x="4028440" y="2187509"/>
            <a:ext cx="3076837" cy="1140198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orme libre : forme 113">
            <a:extLst>
              <a:ext uri="{FF2B5EF4-FFF2-40B4-BE49-F238E27FC236}">
                <a16:creationId xmlns:a16="http://schemas.microsoft.com/office/drawing/2014/main" id="{07C4554F-49CC-4A8A-ACE7-2F3187566744}"/>
              </a:ext>
            </a:extLst>
          </p:cNvPr>
          <p:cNvSpPr/>
          <p:nvPr/>
        </p:nvSpPr>
        <p:spPr>
          <a:xfrm>
            <a:off x="6272219" y="2234660"/>
            <a:ext cx="45719" cy="199998"/>
          </a:xfrm>
          <a:custGeom>
            <a:avLst/>
            <a:gdLst>
              <a:gd name="connsiteX0" fmla="*/ 77692 w 77692"/>
              <a:gd name="connsiteY0" fmla="*/ 0 h 116840"/>
              <a:gd name="connsiteX1" fmla="*/ 1492 w 77692"/>
              <a:gd name="connsiteY1" fmla="*/ 58420 h 116840"/>
              <a:gd name="connsiteX2" fmla="*/ 34512 w 77692"/>
              <a:gd name="connsiteY2" fmla="*/ 116840 h 11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692" h="116840">
                <a:moveTo>
                  <a:pt x="77692" y="0"/>
                </a:moveTo>
                <a:cubicBezTo>
                  <a:pt x="43190" y="19473"/>
                  <a:pt x="8689" y="38947"/>
                  <a:pt x="1492" y="58420"/>
                </a:cubicBezTo>
                <a:cubicBezTo>
                  <a:pt x="-5705" y="77893"/>
                  <a:pt x="14403" y="97366"/>
                  <a:pt x="34512" y="116840"/>
                </a:cubicBezTo>
              </a:path>
            </a:pathLst>
          </a:custGeom>
          <a:ln w="31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Forme libre : forme 114">
            <a:extLst>
              <a:ext uri="{FF2B5EF4-FFF2-40B4-BE49-F238E27FC236}">
                <a16:creationId xmlns:a16="http://schemas.microsoft.com/office/drawing/2014/main" id="{1AA5A889-61CB-46BC-B1F9-3D6B0EF4D0FC}"/>
              </a:ext>
            </a:extLst>
          </p:cNvPr>
          <p:cNvSpPr/>
          <p:nvPr/>
        </p:nvSpPr>
        <p:spPr>
          <a:xfrm rot="10800000">
            <a:off x="6670232" y="2338408"/>
            <a:ext cx="45719" cy="199998"/>
          </a:xfrm>
          <a:custGeom>
            <a:avLst/>
            <a:gdLst>
              <a:gd name="connsiteX0" fmla="*/ 77692 w 77692"/>
              <a:gd name="connsiteY0" fmla="*/ 0 h 116840"/>
              <a:gd name="connsiteX1" fmla="*/ 1492 w 77692"/>
              <a:gd name="connsiteY1" fmla="*/ 58420 h 116840"/>
              <a:gd name="connsiteX2" fmla="*/ 34512 w 77692"/>
              <a:gd name="connsiteY2" fmla="*/ 116840 h 11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692" h="116840">
                <a:moveTo>
                  <a:pt x="77692" y="0"/>
                </a:moveTo>
                <a:cubicBezTo>
                  <a:pt x="43190" y="19473"/>
                  <a:pt x="8689" y="38947"/>
                  <a:pt x="1492" y="58420"/>
                </a:cubicBezTo>
                <a:cubicBezTo>
                  <a:pt x="-5705" y="77893"/>
                  <a:pt x="14403" y="97366"/>
                  <a:pt x="34512" y="116840"/>
                </a:cubicBezTo>
              </a:path>
            </a:pathLst>
          </a:custGeom>
          <a:ln w="31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E12B33BF-96A8-40C7-AC36-4235D6B1ACF2}"/>
              </a:ext>
            </a:extLst>
          </p:cNvPr>
          <p:cNvCxnSpPr/>
          <p:nvPr/>
        </p:nvCxnSpPr>
        <p:spPr>
          <a:xfrm>
            <a:off x="6154944" y="3256736"/>
            <a:ext cx="0" cy="169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120">
            <a:extLst>
              <a:ext uri="{FF2B5EF4-FFF2-40B4-BE49-F238E27FC236}">
                <a16:creationId xmlns:a16="http://schemas.microsoft.com/office/drawing/2014/main" id="{97E2D442-5056-4033-9A84-736FF5151608}"/>
              </a:ext>
            </a:extLst>
          </p:cNvPr>
          <p:cNvSpPr txBox="1"/>
          <p:nvPr/>
        </p:nvSpPr>
        <p:spPr>
          <a:xfrm>
            <a:off x="6096437" y="323974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</a:t>
            </a:r>
          </a:p>
        </p:txBody>
      </p:sp>
      <p:pic>
        <p:nvPicPr>
          <p:cNvPr id="123" name="Image 122">
            <a:extLst>
              <a:ext uri="{FF2B5EF4-FFF2-40B4-BE49-F238E27FC236}">
                <a16:creationId xmlns:a16="http://schemas.microsoft.com/office/drawing/2014/main" id="{440C0E79-B054-474E-B97C-8C1F6E19C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2" y="570175"/>
            <a:ext cx="3447025" cy="1901127"/>
          </a:xfrm>
          <a:prstGeom prst="rect">
            <a:avLst/>
          </a:prstGeom>
        </p:spPr>
      </p:pic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2D72572-ECD3-4F72-B453-D0FF23EA334A}"/>
              </a:ext>
            </a:extLst>
          </p:cNvPr>
          <p:cNvCxnSpPr>
            <a:cxnSpLocks/>
          </p:cNvCxnSpPr>
          <p:nvPr/>
        </p:nvCxnSpPr>
        <p:spPr>
          <a:xfrm>
            <a:off x="6508153" y="2403765"/>
            <a:ext cx="0" cy="9206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BD89B283-B6CD-46E6-BDB6-DD026F99B14E}"/>
              </a:ext>
            </a:extLst>
          </p:cNvPr>
          <p:cNvSpPr txBox="1"/>
          <p:nvPr/>
        </p:nvSpPr>
        <p:spPr>
          <a:xfrm>
            <a:off x="6347995" y="324205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24E2A429-308C-4936-A959-0A14972BE673}"/>
              </a:ext>
            </a:extLst>
          </p:cNvPr>
          <p:cNvSpPr txBox="1"/>
          <p:nvPr/>
        </p:nvSpPr>
        <p:spPr>
          <a:xfrm>
            <a:off x="6385788" y="2065326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9863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2CF4ED9-9C05-4EAD-9864-8430175C567A}"/>
              </a:ext>
            </a:extLst>
          </p:cNvPr>
          <p:cNvGrpSpPr/>
          <p:nvPr/>
        </p:nvGrpSpPr>
        <p:grpSpPr>
          <a:xfrm>
            <a:off x="67180" y="179956"/>
            <a:ext cx="5571966" cy="6496772"/>
            <a:chOff x="2455278" y="64545"/>
            <a:chExt cx="5571966" cy="6496772"/>
          </a:xfrm>
        </p:grpSpPr>
        <p:sp>
          <p:nvSpPr>
            <p:cNvPr id="98" name="Forme libre : forme 97">
              <a:extLst>
                <a:ext uri="{FF2B5EF4-FFF2-40B4-BE49-F238E27FC236}">
                  <a16:creationId xmlns:a16="http://schemas.microsoft.com/office/drawing/2014/main" id="{F43CA64C-4D21-4930-903C-FDB8D8F24F5E}"/>
                </a:ext>
              </a:extLst>
            </p:cNvPr>
            <p:cNvSpPr/>
            <p:nvPr/>
          </p:nvSpPr>
          <p:spPr>
            <a:xfrm>
              <a:off x="4762500" y="249555"/>
              <a:ext cx="24765" cy="53340"/>
            </a:xfrm>
            <a:custGeom>
              <a:avLst/>
              <a:gdLst>
                <a:gd name="connsiteX0" fmla="*/ 0 w 24765"/>
                <a:gd name="connsiteY0" fmla="*/ 0 h 53340"/>
                <a:gd name="connsiteX1" fmla="*/ 24765 w 24765"/>
                <a:gd name="connsiteY1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765" h="53340">
                  <a:moveTo>
                    <a:pt x="0" y="0"/>
                  </a:moveTo>
                  <a:lnTo>
                    <a:pt x="24765" y="53340"/>
                  </a:lnTo>
                </a:path>
              </a:pathLst>
            </a:cu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000E3AB-18B0-42D5-B294-99F623DA6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917" b="92917" l="10000" r="90000">
                          <a14:foregroundMark x1="50417" y1="8333" x2="50417" y2="8333"/>
                          <a14:foregroundMark x1="52500" y1="92917" x2="52500" y2="9291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68236" y="172990"/>
              <a:ext cx="1324583" cy="1324583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F64C3445-1BC6-438C-87E5-F930F1968F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933" t="25797" r="4193" b="31320"/>
            <a:stretch/>
          </p:blipFill>
          <p:spPr>
            <a:xfrm rot="5781347">
              <a:off x="4380291" y="1586375"/>
              <a:ext cx="500470" cy="249919"/>
            </a:xfrm>
            <a:prstGeom prst="rect">
              <a:avLst/>
            </a:prstGeom>
          </p:spPr>
        </p:pic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20EB9C18-A89D-4BBA-A92B-6DCD3F7E9741}"/>
                </a:ext>
              </a:extLst>
            </p:cNvPr>
            <p:cNvCxnSpPr>
              <a:cxnSpLocks/>
              <a:stCxn id="27" idx="0"/>
              <a:endCxn id="25" idx="0"/>
            </p:cNvCxnSpPr>
            <p:nvPr/>
          </p:nvCxnSpPr>
          <p:spPr>
            <a:xfrm>
              <a:off x="4576724" y="2627975"/>
              <a:ext cx="5722" cy="187240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5699FD81-4F87-4B47-80B4-C9DDEB50A9AF}"/>
                </a:ext>
              </a:extLst>
            </p:cNvPr>
            <p:cNvSpPr/>
            <p:nvPr/>
          </p:nvSpPr>
          <p:spPr>
            <a:xfrm>
              <a:off x="4539480" y="5163528"/>
              <a:ext cx="128963" cy="323088"/>
            </a:xfrm>
            <a:custGeom>
              <a:avLst/>
              <a:gdLst>
                <a:gd name="connsiteX0" fmla="*/ 42966 w 128963"/>
                <a:gd name="connsiteY0" fmla="*/ 0 h 323088"/>
                <a:gd name="connsiteX1" fmla="*/ 91734 w 128963"/>
                <a:gd name="connsiteY1" fmla="*/ 182880 h 323088"/>
                <a:gd name="connsiteX2" fmla="*/ 294 w 128963"/>
                <a:gd name="connsiteY2" fmla="*/ 140208 h 323088"/>
                <a:gd name="connsiteX3" fmla="*/ 128310 w 128963"/>
                <a:gd name="connsiteY3" fmla="*/ 97536 h 323088"/>
                <a:gd name="connsiteX4" fmla="*/ 49062 w 128963"/>
                <a:gd name="connsiteY4" fmla="*/ 164592 h 323088"/>
                <a:gd name="connsiteX5" fmla="*/ 24678 w 128963"/>
                <a:gd name="connsiteY5" fmla="*/ 323088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963" h="323088">
                  <a:moveTo>
                    <a:pt x="42966" y="0"/>
                  </a:moveTo>
                  <a:cubicBezTo>
                    <a:pt x="70906" y="79756"/>
                    <a:pt x="98846" y="159512"/>
                    <a:pt x="91734" y="182880"/>
                  </a:cubicBezTo>
                  <a:cubicBezTo>
                    <a:pt x="84622" y="206248"/>
                    <a:pt x="-5802" y="154432"/>
                    <a:pt x="294" y="140208"/>
                  </a:cubicBezTo>
                  <a:cubicBezTo>
                    <a:pt x="6390" y="125984"/>
                    <a:pt x="120182" y="93472"/>
                    <a:pt x="128310" y="97536"/>
                  </a:cubicBezTo>
                  <a:cubicBezTo>
                    <a:pt x="136438" y="101600"/>
                    <a:pt x="66334" y="127000"/>
                    <a:pt x="49062" y="164592"/>
                  </a:cubicBezTo>
                  <a:cubicBezTo>
                    <a:pt x="31790" y="202184"/>
                    <a:pt x="28234" y="262636"/>
                    <a:pt x="24678" y="323088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1B7C243E-3E27-4FD7-AC8D-A4F4BE7A70D9}"/>
                </a:ext>
              </a:extLst>
            </p:cNvPr>
            <p:cNvSpPr/>
            <p:nvPr/>
          </p:nvSpPr>
          <p:spPr>
            <a:xfrm>
              <a:off x="4539480" y="4500384"/>
              <a:ext cx="128963" cy="323088"/>
            </a:xfrm>
            <a:custGeom>
              <a:avLst/>
              <a:gdLst>
                <a:gd name="connsiteX0" fmla="*/ 42966 w 128963"/>
                <a:gd name="connsiteY0" fmla="*/ 0 h 323088"/>
                <a:gd name="connsiteX1" fmla="*/ 91734 w 128963"/>
                <a:gd name="connsiteY1" fmla="*/ 182880 h 323088"/>
                <a:gd name="connsiteX2" fmla="*/ 294 w 128963"/>
                <a:gd name="connsiteY2" fmla="*/ 140208 h 323088"/>
                <a:gd name="connsiteX3" fmla="*/ 128310 w 128963"/>
                <a:gd name="connsiteY3" fmla="*/ 97536 h 323088"/>
                <a:gd name="connsiteX4" fmla="*/ 49062 w 128963"/>
                <a:gd name="connsiteY4" fmla="*/ 164592 h 323088"/>
                <a:gd name="connsiteX5" fmla="*/ 24678 w 128963"/>
                <a:gd name="connsiteY5" fmla="*/ 323088 h 32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963" h="323088">
                  <a:moveTo>
                    <a:pt x="42966" y="0"/>
                  </a:moveTo>
                  <a:cubicBezTo>
                    <a:pt x="70906" y="79756"/>
                    <a:pt x="98846" y="159512"/>
                    <a:pt x="91734" y="182880"/>
                  </a:cubicBezTo>
                  <a:cubicBezTo>
                    <a:pt x="84622" y="206248"/>
                    <a:pt x="-5802" y="154432"/>
                    <a:pt x="294" y="140208"/>
                  </a:cubicBezTo>
                  <a:cubicBezTo>
                    <a:pt x="6390" y="125984"/>
                    <a:pt x="120182" y="93472"/>
                    <a:pt x="128310" y="97536"/>
                  </a:cubicBezTo>
                  <a:cubicBezTo>
                    <a:pt x="136438" y="101600"/>
                    <a:pt x="66334" y="127000"/>
                    <a:pt x="49062" y="164592"/>
                  </a:cubicBezTo>
                  <a:cubicBezTo>
                    <a:pt x="31790" y="202184"/>
                    <a:pt x="28234" y="262636"/>
                    <a:pt x="24678" y="323088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219AC075-1CBE-40C5-9272-21944C0D9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88494" y="4722888"/>
              <a:ext cx="370342" cy="508682"/>
            </a:xfrm>
            <a:prstGeom prst="rect">
              <a:avLst/>
            </a:prstGeom>
          </p:spPr>
        </p:pic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034D63AC-6590-47FC-8DDD-009C05353A84}"/>
                </a:ext>
              </a:extLst>
            </p:cNvPr>
            <p:cNvSpPr/>
            <p:nvPr/>
          </p:nvSpPr>
          <p:spPr>
            <a:xfrm rot="10800000">
              <a:off x="4503550" y="2134078"/>
              <a:ext cx="152422" cy="493897"/>
            </a:xfrm>
            <a:custGeom>
              <a:avLst/>
              <a:gdLst>
                <a:gd name="connsiteX0" fmla="*/ 79248 w 152422"/>
                <a:gd name="connsiteY0" fmla="*/ 0 h 493897"/>
                <a:gd name="connsiteX1" fmla="*/ 79248 w 152422"/>
                <a:gd name="connsiteY1" fmla="*/ 146304 h 493897"/>
                <a:gd name="connsiteX2" fmla="*/ 0 w 152422"/>
                <a:gd name="connsiteY2" fmla="*/ 341376 h 493897"/>
                <a:gd name="connsiteX3" fmla="*/ 79248 w 152422"/>
                <a:gd name="connsiteY3" fmla="*/ 493776 h 493897"/>
                <a:gd name="connsiteX4" fmla="*/ 152400 w 152422"/>
                <a:gd name="connsiteY4" fmla="*/ 316992 h 493897"/>
                <a:gd name="connsiteX5" fmla="*/ 85344 w 152422"/>
                <a:gd name="connsiteY5" fmla="*/ 109728 h 493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22" h="493897">
                  <a:moveTo>
                    <a:pt x="79248" y="0"/>
                  </a:moveTo>
                  <a:cubicBezTo>
                    <a:pt x="85852" y="44704"/>
                    <a:pt x="92456" y="89408"/>
                    <a:pt x="79248" y="146304"/>
                  </a:cubicBezTo>
                  <a:cubicBezTo>
                    <a:pt x="66040" y="203200"/>
                    <a:pt x="0" y="283464"/>
                    <a:pt x="0" y="341376"/>
                  </a:cubicBezTo>
                  <a:cubicBezTo>
                    <a:pt x="0" y="399288"/>
                    <a:pt x="53848" y="497840"/>
                    <a:pt x="79248" y="493776"/>
                  </a:cubicBezTo>
                  <a:cubicBezTo>
                    <a:pt x="104648" y="489712"/>
                    <a:pt x="151384" y="381000"/>
                    <a:pt x="152400" y="316992"/>
                  </a:cubicBezTo>
                  <a:cubicBezTo>
                    <a:pt x="153416" y="252984"/>
                    <a:pt x="119380" y="181356"/>
                    <a:pt x="85344" y="109728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85DF0DFF-7039-4CF7-90BF-BA4E270F70BE}"/>
                </a:ext>
              </a:extLst>
            </p:cNvPr>
            <p:cNvGrpSpPr/>
            <p:nvPr/>
          </p:nvGrpSpPr>
          <p:grpSpPr>
            <a:xfrm>
              <a:off x="4411877" y="5490122"/>
              <a:ext cx="303973" cy="991468"/>
              <a:chOff x="1842413" y="5604422"/>
              <a:chExt cx="303973" cy="991468"/>
            </a:xfrm>
          </p:grpSpPr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620EDEC6-90FA-48B9-B65E-D60F96F136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0907" t="12683" r="31810" b="15454"/>
              <a:stretch/>
            </p:blipFill>
            <p:spPr>
              <a:xfrm>
                <a:off x="1842413" y="6008955"/>
                <a:ext cx="303973" cy="586935"/>
              </a:xfrm>
              <a:prstGeom prst="rect">
                <a:avLst/>
              </a:prstGeom>
            </p:spPr>
          </p:pic>
          <p:cxnSp>
            <p:nvCxnSpPr>
              <p:cNvPr id="24" name="Connecteur droit 23">
                <a:extLst>
                  <a:ext uri="{FF2B5EF4-FFF2-40B4-BE49-F238E27FC236}">
                    <a16:creationId xmlns:a16="http://schemas.microsoft.com/office/drawing/2014/main" id="{F3333B45-6BC4-4B21-9225-F5D95FD97A21}"/>
                  </a:ext>
                </a:extLst>
              </p:cNvPr>
              <p:cNvCxnSpPr>
                <a:cxnSpLocks/>
                <a:stCxn id="31" idx="0"/>
              </p:cNvCxnSpPr>
              <p:nvPr/>
            </p:nvCxnSpPr>
            <p:spPr>
              <a:xfrm flipH="1">
                <a:off x="1991715" y="5604422"/>
                <a:ext cx="2852" cy="144106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4B6E6F6A-419B-4FF0-A6B5-E78098253660}"/>
                  </a:ext>
                </a:extLst>
              </p:cNvPr>
              <p:cNvSpPr/>
              <p:nvPr/>
            </p:nvSpPr>
            <p:spPr>
              <a:xfrm>
                <a:off x="1909169" y="5604422"/>
                <a:ext cx="85398" cy="542544"/>
              </a:xfrm>
              <a:custGeom>
                <a:avLst/>
                <a:gdLst>
                  <a:gd name="connsiteX0" fmla="*/ 85398 w 85398"/>
                  <a:gd name="connsiteY0" fmla="*/ 0 h 542544"/>
                  <a:gd name="connsiteX1" fmla="*/ 67110 w 85398"/>
                  <a:gd name="connsiteY1" fmla="*/ 176784 h 542544"/>
                  <a:gd name="connsiteX2" fmla="*/ 54 w 85398"/>
                  <a:gd name="connsiteY2" fmla="*/ 384048 h 542544"/>
                  <a:gd name="connsiteX3" fmla="*/ 79302 w 85398"/>
                  <a:gd name="connsiteY3" fmla="*/ 542544 h 542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98" h="542544">
                    <a:moveTo>
                      <a:pt x="85398" y="0"/>
                    </a:moveTo>
                    <a:cubicBezTo>
                      <a:pt x="83366" y="56388"/>
                      <a:pt x="81334" y="112776"/>
                      <a:pt x="67110" y="176784"/>
                    </a:cubicBezTo>
                    <a:cubicBezTo>
                      <a:pt x="52886" y="240792"/>
                      <a:pt x="-1978" y="323088"/>
                      <a:pt x="54" y="384048"/>
                    </a:cubicBezTo>
                    <a:cubicBezTo>
                      <a:pt x="2086" y="445008"/>
                      <a:pt x="40694" y="493776"/>
                      <a:pt x="79302" y="542544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D9FCDA8C-483D-460B-B425-2E4148B4E029}"/>
                  </a:ext>
                </a:extLst>
              </p:cNvPr>
              <p:cNvSpPr/>
              <p:nvPr/>
            </p:nvSpPr>
            <p:spPr>
              <a:xfrm>
                <a:off x="1987296" y="5693664"/>
                <a:ext cx="80191" cy="353568"/>
              </a:xfrm>
              <a:custGeom>
                <a:avLst/>
                <a:gdLst>
                  <a:gd name="connsiteX0" fmla="*/ 73152 w 80191"/>
                  <a:gd name="connsiteY0" fmla="*/ 353568 h 353568"/>
                  <a:gd name="connsiteX1" fmla="*/ 73152 w 80191"/>
                  <a:gd name="connsiteY1" fmla="*/ 188976 h 353568"/>
                  <a:gd name="connsiteX2" fmla="*/ 0 w 80191"/>
                  <a:gd name="connsiteY2" fmla="*/ 0 h 353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0191" h="353568">
                    <a:moveTo>
                      <a:pt x="73152" y="353568"/>
                    </a:moveTo>
                    <a:cubicBezTo>
                      <a:pt x="79248" y="300736"/>
                      <a:pt x="85344" y="247904"/>
                      <a:pt x="73152" y="188976"/>
                    </a:cubicBezTo>
                    <a:cubicBezTo>
                      <a:pt x="60960" y="130048"/>
                      <a:pt x="30480" y="65024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431E61D8-D960-4809-B876-93303DAFF380}"/>
                </a:ext>
              </a:extLst>
            </p:cNvPr>
            <p:cNvSpPr txBox="1"/>
            <p:nvPr/>
          </p:nvSpPr>
          <p:spPr>
            <a:xfrm>
              <a:off x="4746586" y="1394590"/>
              <a:ext cx="131318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Mousqueton </a:t>
              </a:r>
            </a:p>
            <a:p>
              <a:r>
                <a:rPr lang="fr-FR" sz="1100" dirty="0"/>
                <a:t>Sécurisé </a:t>
              </a:r>
              <a:r>
                <a:rPr lang="fr-FR" sz="1100" b="1" dirty="0"/>
                <a:t>sans</a:t>
              </a:r>
              <a:r>
                <a:rPr lang="fr-FR" sz="1100" dirty="0"/>
                <a:t> œillet</a:t>
              </a:r>
            </a:p>
            <a:p>
              <a:r>
                <a:rPr lang="fr-FR" sz="1100" dirty="0"/>
                <a:t>« Type escalade »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2EA1729-5ED1-49C3-87A9-F9F191EDE283}"/>
                </a:ext>
              </a:extLst>
            </p:cNvPr>
            <p:cNvSpPr txBox="1"/>
            <p:nvPr/>
          </p:nvSpPr>
          <p:spPr>
            <a:xfrm>
              <a:off x="4746586" y="2133325"/>
              <a:ext cx="10807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Boucle Epissure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FD2676D4-19A5-440A-BD20-38F11EF3C645}"/>
                </a:ext>
              </a:extLst>
            </p:cNvPr>
            <p:cNvSpPr txBox="1"/>
            <p:nvPr/>
          </p:nvSpPr>
          <p:spPr>
            <a:xfrm>
              <a:off x="4708997" y="5961153"/>
              <a:ext cx="1322798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Mousqueton </a:t>
              </a:r>
            </a:p>
            <a:p>
              <a:r>
                <a:rPr lang="fr-FR" sz="1100" dirty="0"/>
                <a:t>Sécurisé </a:t>
              </a:r>
              <a:r>
                <a:rPr lang="fr-FR" sz="1100" b="1" dirty="0"/>
                <a:t>avec</a:t>
              </a:r>
              <a:r>
                <a:rPr lang="fr-FR" sz="1100" dirty="0"/>
                <a:t> œillet</a:t>
              </a:r>
            </a:p>
            <a:p>
              <a:r>
                <a:rPr lang="fr-FR" sz="1100" dirty="0">
                  <a:latin typeface="IBM Plex Sans ExtraLight" panose="020B0604020202020204" pitchFamily="34" charset="0"/>
                </a:rPr>
                <a:t>ᴓ  </a:t>
              </a:r>
              <a:r>
                <a:rPr lang="fr-FR" sz="1100" dirty="0"/>
                <a:t>8 mm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4265AAF1-BF6F-4AD3-9BB6-98EE692C2CB4}"/>
                </a:ext>
              </a:extLst>
            </p:cNvPr>
            <p:cNvSpPr txBox="1"/>
            <p:nvPr/>
          </p:nvSpPr>
          <p:spPr>
            <a:xfrm>
              <a:off x="4715078" y="5664606"/>
              <a:ext cx="66236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Epissure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8E63DE3-76E5-470F-ADC8-93C614EF0240}"/>
                </a:ext>
              </a:extLst>
            </p:cNvPr>
            <p:cNvSpPr txBox="1"/>
            <p:nvPr/>
          </p:nvSpPr>
          <p:spPr>
            <a:xfrm>
              <a:off x="4720622" y="5190873"/>
              <a:ext cx="9509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Nœud simple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6B058B6E-6F56-477E-BDE5-8BE567B9B8E9}"/>
                </a:ext>
              </a:extLst>
            </p:cNvPr>
            <p:cNvSpPr txBox="1"/>
            <p:nvPr/>
          </p:nvSpPr>
          <p:spPr>
            <a:xfrm>
              <a:off x="4720622" y="4514058"/>
              <a:ext cx="9509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Nœud simple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E08C3269-C847-410B-8365-B2EBD9E9A8E0}"/>
                </a:ext>
              </a:extLst>
            </p:cNvPr>
            <p:cNvSpPr txBox="1"/>
            <p:nvPr/>
          </p:nvSpPr>
          <p:spPr>
            <a:xfrm>
              <a:off x="4728536" y="4848101"/>
              <a:ext cx="17203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Bouée traversante « œuf »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32A7E046-30AB-4F3F-AB10-69B7886E58FA}"/>
                </a:ext>
              </a:extLst>
            </p:cNvPr>
            <p:cNvSpPr txBox="1"/>
            <p:nvPr/>
          </p:nvSpPr>
          <p:spPr>
            <a:xfrm>
              <a:off x="5046258" y="645132"/>
              <a:ext cx="11400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Bouée « Casier »</a:t>
              </a:r>
            </a:p>
          </p:txBody>
        </p:sp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5BD07CB0-E823-460A-AE27-EBF6649961FB}"/>
                </a:ext>
              </a:extLst>
            </p:cNvPr>
            <p:cNvCxnSpPr>
              <a:cxnSpLocks/>
            </p:cNvCxnSpPr>
            <p:nvPr/>
          </p:nvCxnSpPr>
          <p:spPr>
            <a:xfrm>
              <a:off x="6545397" y="4944375"/>
              <a:ext cx="3412" cy="153263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793F2E0B-E210-49DC-B855-D4D1C11EE337}"/>
                </a:ext>
              </a:extLst>
            </p:cNvPr>
            <p:cNvSpPr txBox="1"/>
            <p:nvPr/>
          </p:nvSpPr>
          <p:spPr>
            <a:xfrm>
              <a:off x="6216794" y="5508835"/>
              <a:ext cx="4010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1 m</a:t>
              </a:r>
            </a:p>
          </p:txBody>
        </p:sp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5097E8FA-022B-4549-AAA6-014DA7940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5453" y="4143306"/>
              <a:ext cx="216423" cy="117704"/>
            </a:xfrm>
            <a:prstGeom prst="rect">
              <a:avLst/>
            </a:prstGeom>
          </p:spPr>
        </p:pic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D0C851CC-6122-4519-B672-B22704E68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6200000">
              <a:off x="4538182" y="3727445"/>
              <a:ext cx="117345" cy="215133"/>
            </a:xfrm>
            <a:prstGeom prst="rect">
              <a:avLst/>
            </a:prstGeom>
          </p:spPr>
        </p:pic>
        <p:pic>
          <p:nvPicPr>
            <p:cNvPr id="58" name="Image 57">
              <a:extLst>
                <a:ext uri="{FF2B5EF4-FFF2-40B4-BE49-F238E27FC236}">
                  <a16:creationId xmlns:a16="http://schemas.microsoft.com/office/drawing/2014/main" id="{632EFD01-82EA-4A2A-A96D-D98203717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4637937">
              <a:off x="4509912" y="3337779"/>
              <a:ext cx="132285" cy="242523"/>
            </a:xfrm>
            <a:prstGeom prst="rect">
              <a:avLst/>
            </a:prstGeom>
          </p:spPr>
        </p:pic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7F47DCD0-85E7-4062-8B85-560F3EEC1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3933" y="3021183"/>
              <a:ext cx="216423" cy="117704"/>
            </a:xfrm>
            <a:prstGeom prst="rect">
              <a:avLst/>
            </a:prstGeom>
          </p:spPr>
        </p:pic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CAD61A89-F907-4BE0-BF5F-71C28696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6200000">
              <a:off x="4530566" y="2635802"/>
              <a:ext cx="117345" cy="215133"/>
            </a:xfrm>
            <a:prstGeom prst="rect">
              <a:avLst/>
            </a:prstGeom>
          </p:spPr>
        </p:pic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B357DB5F-70A6-4066-A81A-E5FE4CB7D6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420" y="2738629"/>
              <a:ext cx="700932" cy="511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0355BF6C-D919-4CB4-9D18-554D2F2C75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5972" y="3123937"/>
              <a:ext cx="717380" cy="1257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41D159F6-97F1-46B6-A957-4F330FDDC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972" y="3249679"/>
              <a:ext cx="717380" cy="197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eur droit avec flèche 71">
              <a:extLst>
                <a:ext uri="{FF2B5EF4-FFF2-40B4-BE49-F238E27FC236}">
                  <a16:creationId xmlns:a16="http://schemas.microsoft.com/office/drawing/2014/main" id="{79135808-A50A-477F-8AE0-0B7E0C082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3944" y="3249679"/>
              <a:ext cx="679408" cy="554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09F7757D-446E-4950-85B2-3B1096043E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5972" y="3249679"/>
              <a:ext cx="717380" cy="9240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55791A22-CBC2-4FEE-82D6-BA1006E91361}"/>
                </a:ext>
              </a:extLst>
            </p:cNvPr>
            <p:cNvSpPr txBox="1"/>
            <p:nvPr/>
          </p:nvSpPr>
          <p:spPr>
            <a:xfrm>
              <a:off x="5458969" y="3127502"/>
              <a:ext cx="9655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/>
                <a:t>Repères en tissu coloré tous les mètres</a:t>
              </a:r>
            </a:p>
          </p:txBody>
        </p:sp>
        <p:cxnSp>
          <p:nvCxnSpPr>
            <p:cNvPr id="85" name="Connecteur droit avec flèche 84">
              <a:extLst>
                <a:ext uri="{FF2B5EF4-FFF2-40B4-BE49-F238E27FC236}">
                  <a16:creationId xmlns:a16="http://schemas.microsoft.com/office/drawing/2014/main" id="{5853CAF5-1FCF-4F16-8473-2E557A1F3C81}"/>
                </a:ext>
              </a:extLst>
            </p:cNvPr>
            <p:cNvCxnSpPr>
              <a:cxnSpLocks/>
            </p:cNvCxnSpPr>
            <p:nvPr/>
          </p:nvCxnSpPr>
          <p:spPr>
            <a:xfrm>
              <a:off x="6743614" y="2133325"/>
              <a:ext cx="49198" cy="434826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39380926-F0E2-498E-887E-89BBD33A058A}"/>
                </a:ext>
              </a:extLst>
            </p:cNvPr>
            <p:cNvSpPr txBox="1"/>
            <p:nvPr/>
          </p:nvSpPr>
          <p:spPr>
            <a:xfrm>
              <a:off x="6775106" y="3629223"/>
              <a:ext cx="125213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Longueur totale :</a:t>
              </a:r>
            </a:p>
            <a:p>
              <a:r>
                <a:rPr lang="fr-FR" sz="1200" dirty="0"/>
                <a:t>5, 10, ou 15 m</a:t>
              </a:r>
            </a:p>
            <a:p>
              <a:r>
                <a:rPr lang="fr-FR" sz="1200" dirty="0">
                  <a:latin typeface="IBM Plex Sans ExtraLight" panose="020B0604020202020204" pitchFamily="34" charset="0"/>
                </a:rPr>
                <a:t>ᴓ  </a:t>
              </a:r>
              <a:r>
                <a:rPr lang="fr-FR" sz="1200" dirty="0"/>
                <a:t>8 mm</a:t>
              </a:r>
            </a:p>
            <a:p>
              <a:endParaRPr lang="fr-FR" sz="1200" dirty="0"/>
            </a:p>
            <a:p>
              <a:r>
                <a:rPr lang="fr-FR" sz="1200" dirty="0"/>
                <a:t>Possibilité de les </a:t>
              </a:r>
            </a:p>
            <a:p>
              <a:r>
                <a:rPr lang="fr-FR" sz="1200" dirty="0"/>
                <a:t>mettre en série</a:t>
              </a:r>
            </a:p>
          </p:txBody>
        </p:sp>
        <p:cxnSp>
          <p:nvCxnSpPr>
            <p:cNvPr id="90" name="Connecteur droit avec flèche 89">
              <a:extLst>
                <a:ext uri="{FF2B5EF4-FFF2-40B4-BE49-F238E27FC236}">
                  <a16:creationId xmlns:a16="http://schemas.microsoft.com/office/drawing/2014/main" id="{4C4E2551-17F9-42AF-8BB1-B555509C4B8B}"/>
                </a:ext>
              </a:extLst>
            </p:cNvPr>
            <p:cNvCxnSpPr>
              <a:endCxn id="8" idx="1"/>
            </p:cNvCxnSpPr>
            <p:nvPr/>
          </p:nvCxnSpPr>
          <p:spPr>
            <a:xfrm flipV="1">
              <a:off x="3596640" y="4977229"/>
              <a:ext cx="791854" cy="5316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584DE7B0-D027-4C0B-A8F0-2C1B9A81A3FC}"/>
                </a:ext>
              </a:extLst>
            </p:cNvPr>
            <p:cNvSpPr txBox="1"/>
            <p:nvPr/>
          </p:nvSpPr>
          <p:spPr>
            <a:xfrm>
              <a:off x="2767752" y="5321678"/>
              <a:ext cx="11748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Indiquer :</a:t>
              </a:r>
              <a:r>
                <a:rPr lang="fr-FR" sz="1200" dirty="0"/>
                <a:t> Longueur du bout en m</a:t>
              </a:r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871B9591-9735-4743-A7EF-444DDCA0C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6789610">
              <a:off x="4724113" y="112614"/>
              <a:ext cx="210479" cy="153075"/>
            </a:xfrm>
            <a:prstGeom prst="rect">
              <a:avLst/>
            </a:prstGeom>
          </p:spPr>
        </p:pic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1431D1FD-E66C-48FA-B21B-E791E22BBF87}"/>
                </a:ext>
              </a:extLst>
            </p:cNvPr>
            <p:cNvSpPr txBox="1"/>
            <p:nvPr/>
          </p:nvSpPr>
          <p:spPr>
            <a:xfrm>
              <a:off x="4955944" y="64545"/>
              <a:ext cx="11304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/>
                <a:t>Plaque plastique</a:t>
              </a:r>
            </a:p>
          </p:txBody>
        </p:sp>
        <p:sp>
          <p:nvSpPr>
            <p:cNvPr id="97" name="Forme libre : forme 96">
              <a:extLst>
                <a:ext uri="{FF2B5EF4-FFF2-40B4-BE49-F238E27FC236}">
                  <a16:creationId xmlns:a16="http://schemas.microsoft.com/office/drawing/2014/main" id="{AF47A385-0255-4367-81A0-DADE471E2AD1}"/>
                </a:ext>
              </a:extLst>
            </p:cNvPr>
            <p:cNvSpPr/>
            <p:nvPr/>
          </p:nvSpPr>
          <p:spPr>
            <a:xfrm>
              <a:off x="4719312" y="254000"/>
              <a:ext cx="45719" cy="113679"/>
            </a:xfrm>
            <a:custGeom>
              <a:avLst/>
              <a:gdLst>
                <a:gd name="connsiteX0" fmla="*/ 66048 w 66048"/>
                <a:gd name="connsiteY0" fmla="*/ 0 h 113679"/>
                <a:gd name="connsiteX1" fmla="*/ 8 w 66048"/>
                <a:gd name="connsiteY1" fmla="*/ 101600 h 113679"/>
                <a:gd name="connsiteX2" fmla="*/ 60968 w 66048"/>
                <a:gd name="connsiteY2" fmla="*/ 111760 h 113679"/>
                <a:gd name="connsiteX3" fmla="*/ 55888 w 66048"/>
                <a:gd name="connsiteY3" fmla="*/ 111760 h 113679"/>
                <a:gd name="connsiteX4" fmla="*/ 55888 w 66048"/>
                <a:gd name="connsiteY4" fmla="*/ 111760 h 11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048" h="113679">
                  <a:moveTo>
                    <a:pt x="66048" y="0"/>
                  </a:moveTo>
                  <a:cubicBezTo>
                    <a:pt x="33451" y="41486"/>
                    <a:pt x="855" y="82973"/>
                    <a:pt x="8" y="101600"/>
                  </a:cubicBezTo>
                  <a:cubicBezTo>
                    <a:pt x="-839" y="120227"/>
                    <a:pt x="60968" y="111760"/>
                    <a:pt x="60968" y="111760"/>
                  </a:cubicBezTo>
                  <a:cubicBezTo>
                    <a:pt x="70281" y="113453"/>
                    <a:pt x="55888" y="111760"/>
                    <a:pt x="55888" y="111760"/>
                  </a:cubicBezTo>
                  <a:lnTo>
                    <a:pt x="55888" y="111760"/>
                  </a:lnTo>
                </a:path>
              </a:pathLst>
            </a:cu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9" name="Connecteur droit avec flèche 98">
              <a:extLst>
                <a:ext uri="{FF2B5EF4-FFF2-40B4-BE49-F238E27FC236}">
                  <a16:creationId xmlns:a16="http://schemas.microsoft.com/office/drawing/2014/main" id="{7FA97492-9508-4A1C-AD09-984A66E7BC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4741" y="1022084"/>
              <a:ext cx="1148694" cy="4754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B463B39B-DF66-4D0D-9C46-7D477D56FBF8}"/>
                </a:ext>
              </a:extLst>
            </p:cNvPr>
            <p:cNvSpPr txBox="1"/>
            <p:nvPr/>
          </p:nvSpPr>
          <p:spPr>
            <a:xfrm>
              <a:off x="2506671" y="1453482"/>
              <a:ext cx="22113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Indiquer :</a:t>
              </a:r>
              <a:r>
                <a:rPr lang="fr-FR" sz="1200" dirty="0"/>
                <a:t> </a:t>
              </a:r>
            </a:p>
            <a:p>
              <a:r>
                <a:rPr lang="fr-FR" sz="1200" dirty="0"/>
                <a:t>EXPERIENCE EN COURS</a:t>
              </a:r>
            </a:p>
            <a:p>
              <a:r>
                <a:rPr lang="fr-FR" sz="1200" dirty="0"/>
                <a:t>ELOIGNEZ-VOUS</a:t>
              </a:r>
            </a:p>
            <a:p>
              <a:r>
                <a:rPr lang="fr-FR" sz="1200" dirty="0"/>
                <a:t>PROJET KOSMOS</a:t>
              </a:r>
            </a:p>
          </p:txBody>
        </p:sp>
        <p:sp>
          <p:nvSpPr>
            <p:cNvPr id="101" name="ZoneTexte 100">
              <a:extLst>
                <a:ext uri="{FF2B5EF4-FFF2-40B4-BE49-F238E27FC236}">
                  <a16:creationId xmlns:a16="http://schemas.microsoft.com/office/drawing/2014/main" id="{5A1E663D-4124-43CC-9ABA-44CEC93FD4F7}"/>
                </a:ext>
              </a:extLst>
            </p:cNvPr>
            <p:cNvSpPr txBox="1"/>
            <p:nvPr/>
          </p:nvSpPr>
          <p:spPr>
            <a:xfrm>
              <a:off x="2455278" y="247327"/>
              <a:ext cx="17071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b="1" dirty="0"/>
                <a:t>Indiquer :</a:t>
              </a:r>
              <a:r>
                <a:rPr lang="fr-FR" sz="1200" dirty="0"/>
                <a:t> </a:t>
              </a:r>
            </a:p>
            <a:p>
              <a:r>
                <a:rPr lang="fr-FR" sz="1200" dirty="0"/>
                <a:t>Projet KOSMOS</a:t>
              </a:r>
            </a:p>
            <a:p>
              <a:r>
                <a:rPr lang="fr-FR" sz="1200" dirty="0"/>
                <a:t>Numéro de contact</a:t>
              </a:r>
            </a:p>
            <a:p>
              <a:r>
                <a:rPr lang="fr-FR" sz="1200" dirty="0"/>
                <a:t>Nom et immatriculation du bateau</a:t>
              </a:r>
            </a:p>
          </p:txBody>
        </p:sp>
        <p:cxnSp>
          <p:nvCxnSpPr>
            <p:cNvPr id="102" name="Connecteur droit avec flèche 101">
              <a:extLst>
                <a:ext uri="{FF2B5EF4-FFF2-40B4-BE49-F238E27FC236}">
                  <a16:creationId xmlns:a16="http://schemas.microsoft.com/office/drawing/2014/main" id="{F319FC01-9284-4DBC-B725-35F03AA22ADA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3188439" y="172990"/>
              <a:ext cx="1442089" cy="2155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84172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258</Words>
  <Application>Microsoft Office PowerPoint</Application>
  <PresentationFormat>Grand écran</PresentationFormat>
  <Paragraphs>83</Paragraphs>
  <Slides>5</Slides>
  <Notes>0</Notes>
  <HiddenSlides>2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Arial</vt:lpstr>
      <vt:lpstr>ArialBold</vt:lpstr>
      <vt:lpstr>ArialRegular</vt:lpstr>
      <vt:lpstr>Calibri</vt:lpstr>
      <vt:lpstr>Calibri Light</vt:lpstr>
      <vt:lpstr>IBM Plex Sans ExtraLight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61</cp:revision>
  <dcterms:created xsi:type="dcterms:W3CDTF">2025-12-23T15:35:45Z</dcterms:created>
  <dcterms:modified xsi:type="dcterms:W3CDTF">2026-08-23T17:09:15Z</dcterms:modified>
</cp:coreProperties>
</file>