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6"/>
  </p:notesMasterIdLst>
  <p:handoutMasterIdLst>
    <p:handoutMasterId r:id="rId7"/>
  </p:handoutMasterIdLst>
  <p:sldIdLst>
    <p:sldId id="268" r:id="rId2"/>
    <p:sldId id="275" r:id="rId3"/>
    <p:sldId id="270" r:id="rId4"/>
    <p:sldId id="276" r:id="rId5"/>
  </p:sldIdLst>
  <p:sldSz cx="30275213" cy="42803763"/>
  <p:notesSz cx="7104063" cy="10234613"/>
  <p:defaultTextStyle>
    <a:defPPr>
      <a:defRPr lang="fr-FR"/>
    </a:defPPr>
    <a:lvl1pPr marL="0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ROUXEL, Ifremer Brest PDG-REM-RDT-LDCM, 0298224606" initials="JRIBP0" lastIdx="5" clrIdx="0">
    <p:extLst>
      <p:ext uri="{19B8F6BF-5375-455C-9EA6-DF929625EA0E}">
        <p15:presenceInfo xmlns:p15="http://schemas.microsoft.com/office/powerpoint/2012/main" userId="S-1-5-21-500109986-1412980772-1848903544-32164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92D2"/>
    <a:srgbClr val="187AAC"/>
    <a:srgbClr val="6600CC"/>
    <a:srgbClr val="33CCFF"/>
    <a:srgbClr val="FFFFFF"/>
    <a:srgbClr val="13E353"/>
    <a:srgbClr val="E6E6E6"/>
    <a:srgbClr val="4F81BD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68" autoAdjust="0"/>
    <p:restoredTop sz="91080" autoAdjust="0"/>
  </p:normalViewPr>
  <p:slideViewPr>
    <p:cSldViewPr snapToGrid="0" snapToObjects="1">
      <p:cViewPr>
        <p:scale>
          <a:sx n="50" d="100"/>
          <a:sy n="50" d="100"/>
        </p:scale>
        <p:origin x="1003" y="-5232"/>
      </p:cViewPr>
      <p:guideLst>
        <p:guide orient="horz" pos="13482"/>
        <p:guide pos="9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5C0C46ED-7803-2C4C-B282-9892E322E1CF}" type="datetime1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3993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24DC5107-9872-B540-9E95-35D9A9A0B4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654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DDC41925-E3E2-B640-90AA-64598CE09C95}" type="datetime1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95513" y="768350"/>
            <a:ext cx="27130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1731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609DA962-CDD0-7A4D-B4BD-EE12C9A0BD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4274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972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DA962-CDD0-7A4D-B4BD-EE12C9A0BD9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00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e Pag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z_PPT4garde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354676" cy="42916109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0" name="Image 9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4756" y="2485854"/>
            <a:ext cx="6102603" cy="4133802"/>
          </a:xfrm>
          <a:prstGeom prst="rect">
            <a:avLst/>
          </a:prstGeom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11150815" y="13855088"/>
            <a:ext cx="17106542" cy="523220"/>
          </a:xfrm>
        </p:spPr>
        <p:txBody>
          <a:bodyPr wrap="square" anchor="ctr" anchorCtr="0">
            <a:spAutoFit/>
          </a:bodyPr>
          <a:lstStyle>
            <a:lvl1pPr algn="l">
              <a:defRPr sz="2800" b="0" i="0" kern="1200" cap="all" spc="500">
                <a:solidFill>
                  <a:srgbClr val="F3E816"/>
                </a:solidFill>
                <a:latin typeface="Open Sans Ligh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5" name="Sous-titre 2"/>
          <p:cNvSpPr>
            <a:spLocks noGrp="1"/>
          </p:cNvSpPr>
          <p:nvPr>
            <p:ph type="subTitle" idx="1"/>
          </p:nvPr>
        </p:nvSpPr>
        <p:spPr>
          <a:xfrm>
            <a:off x="11150815" y="28531220"/>
            <a:ext cx="17106542" cy="369332"/>
          </a:xfr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800" b="0" i="0" kern="1200" cap="all" spc="500" baseline="0">
                <a:solidFill>
                  <a:srgbClr val="F3E816"/>
                </a:solidFill>
                <a:latin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70377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SsTitr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29327" y="10708466"/>
            <a:ext cx="25733931" cy="9175067"/>
          </a:xfrm>
        </p:spPr>
        <p:txBody>
          <a:bodyPr/>
          <a:lstStyle>
            <a:lvl1pPr>
              <a:defRPr>
                <a:solidFill>
                  <a:srgbClr val="1B3C80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799968" y="21667018"/>
            <a:ext cx="21192649" cy="10938739"/>
          </a:xfrm>
        </p:spPr>
        <p:txBody>
          <a:bodyPr/>
          <a:lstStyle>
            <a:lvl1pPr marL="0" indent="0" algn="ctr">
              <a:buNone/>
              <a:defRPr b="0" i="0">
                <a:solidFill>
                  <a:srgbClr val="0092D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6EB03B9D-5203-1848-BF68-82F271F9D659}" type="datetime1">
              <a:rPr lang="fr-FR" smtClean="0"/>
              <a:pPr/>
              <a:t>28/09/2026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976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pic>
        <p:nvPicPr>
          <p:cNvPr id="11" name="Image 10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58723" y="3123662"/>
            <a:ext cx="26176209" cy="7133961"/>
          </a:xfrm>
        </p:spPr>
        <p:txBody>
          <a:bodyPr/>
          <a:lstStyle>
            <a:lvl1pPr>
              <a:defRPr>
                <a:solidFill>
                  <a:srgbClr val="187AAC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58723" y="11397082"/>
            <a:ext cx="26176209" cy="26500199"/>
          </a:xfrm>
        </p:spPr>
        <p:txBody>
          <a:bodyPr/>
          <a:lstStyle>
            <a:lvl1pPr marL="0" indent="0">
              <a:buNone/>
              <a:defRPr sz="2800">
                <a:latin typeface="Open Sans"/>
                <a:cs typeface="Open Sans"/>
              </a:defRPr>
            </a:lvl1pPr>
            <a:lvl2pPr marL="457200" indent="0">
              <a:buNone/>
              <a:defRPr sz="2200" b="1" i="0">
                <a:solidFill>
                  <a:srgbClr val="187AAC"/>
                </a:solidFill>
                <a:latin typeface="Open Sans"/>
              </a:defRPr>
            </a:lvl2pPr>
            <a:lvl3pPr marL="712800">
              <a:defRPr sz="2000">
                <a:latin typeface="Open Sans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6EB03B9D-5203-1848-BF68-82F271F9D659}" type="datetime1">
              <a:rPr lang="fr-FR" smtClean="0"/>
              <a:pPr/>
              <a:t>28/09/2026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83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arti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rez_PPT4v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30493328" cy="4311213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98198" y="15820440"/>
            <a:ext cx="20653969" cy="21480236"/>
          </a:xfrm>
        </p:spPr>
        <p:txBody>
          <a:bodyPr anchor="t" anchorCtr="0"/>
          <a:lstStyle>
            <a:lvl1pPr algn="l">
              <a:defRPr sz="4000" b="0" i="0">
                <a:solidFill>
                  <a:schemeClr val="bg1"/>
                </a:solidFill>
                <a:latin typeface="Open Sans Ligh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098198" y="3931989"/>
            <a:ext cx="8639624" cy="106851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50">
                <a:solidFill>
                  <a:srgbClr val="0092D2"/>
                </a:solidFill>
                <a:latin typeface=""/>
              </a:defRPr>
            </a:lvl1pPr>
          </a:lstStyle>
          <a:p>
            <a:fld id="{D2C4B537-1E70-B34C-A4EE-E549A5C45E95}" type="datetime1">
              <a:rPr lang="fr-FR" smtClean="0"/>
              <a:pPr/>
              <a:t>28/09/2026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11638901" y="3931989"/>
            <a:ext cx="8624431" cy="106851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69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75439" y="3001202"/>
            <a:ext cx="26173917" cy="7133961"/>
          </a:xfrm>
        </p:spPr>
        <p:txBody>
          <a:bodyPr/>
          <a:lstStyle>
            <a:lvl1pPr>
              <a:defRPr>
                <a:solidFill>
                  <a:srgbClr val="187AAC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75440" y="11274617"/>
            <a:ext cx="12559871" cy="23561830"/>
          </a:xfrm>
        </p:spPr>
        <p:txBody>
          <a:bodyPr/>
          <a:lstStyle>
            <a:lvl1pPr marL="342900" indent="-342900">
              <a:buFont typeface="Arial"/>
              <a:buChar char="•"/>
              <a:defRPr sz="2500" baseline="0">
                <a:latin typeface="Open Sans"/>
              </a:defRPr>
            </a:lvl1pPr>
            <a:lvl2pPr marL="313200" indent="0">
              <a:buNone/>
              <a:defRPr sz="2200" b="1" i="0">
                <a:solidFill>
                  <a:srgbClr val="0092D2"/>
                </a:solidFill>
                <a:latin typeface="Open Sans"/>
                <a:cs typeface="Open San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989485" y="11274617"/>
            <a:ext cx="12559871" cy="23561830"/>
          </a:xfrm>
        </p:spPr>
        <p:txBody>
          <a:bodyPr/>
          <a:lstStyle>
            <a:lvl1pPr>
              <a:defRPr sz="2500">
                <a:latin typeface="Open Sans"/>
              </a:defRPr>
            </a:lvl1pPr>
            <a:lvl2pPr marL="349200" indent="0">
              <a:buNone/>
              <a:defRPr sz="2200" b="1" i="0">
                <a:solidFill>
                  <a:srgbClr val="0092D2"/>
                </a:solidFill>
                <a:latin typeface="Open Sans"/>
                <a:cs typeface="Open San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BD11D91D-1491-D948-B5FF-8107FB11BE15}" type="datetime1">
              <a:rPr lang="fr-FR" smtClean="0"/>
              <a:pPr/>
              <a:t>28/09/2026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8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1534" y="27505383"/>
            <a:ext cx="25733931" cy="850130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1534" y="18142065"/>
            <a:ext cx="25733931" cy="936332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0B34-F1D1-AB4C-9D69-9859871B7704}" type="datetime1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01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3762" y="9581307"/>
            <a:ext cx="13376809" cy="399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13762" y="13574339"/>
            <a:ext cx="13376809" cy="246617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5379390" y="9581307"/>
            <a:ext cx="13382065" cy="399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5379390" y="13574339"/>
            <a:ext cx="13382065" cy="246617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E2E43-6FFB-B44E-AD17-BFB64ED72465}" type="datetime1">
              <a:rPr lang="fr-FR" smtClean="0"/>
              <a:t>28/09/2026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3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546D-BE63-DD4F-B215-3990C2EAC06E}" type="datetime1">
              <a:rPr lang="fr-FR" smtClean="0"/>
              <a:t>28/09/2026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88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3762" y="1704223"/>
            <a:ext cx="9960338" cy="72528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36766" y="1704228"/>
            <a:ext cx="16924687" cy="365318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13762" y="8957088"/>
            <a:ext cx="9960338" cy="292789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5392-5F5C-FA4A-B403-856F43DC1F56}" type="datetime1">
              <a:rPr lang="fr-FR" smtClean="0"/>
              <a:t>28/09/2026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7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F5D6-F39F-D449-BF94-7BFE23EC9A71}" type="datetime1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918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1949529" y="1714138"/>
            <a:ext cx="6811923" cy="36521916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13761" y="1714138"/>
            <a:ext cx="19931182" cy="3652191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E19E-B504-4C4B-B4C2-55F7F6DED638}" type="datetime1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768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538A0-9A67-AC4C-91F1-81C206E20709}" type="datetime1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69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513761" y="1714136"/>
            <a:ext cx="27247692" cy="713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3761" y="9987548"/>
            <a:ext cx="27247692" cy="28248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513761" y="39672750"/>
            <a:ext cx="7064216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ECDC7-42CE-5D4E-A5B6-833C2B89EC98}" type="datetime1">
              <a:rPr lang="fr-FR" smtClean="0"/>
              <a:t>28/09/2026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344031" y="39672750"/>
            <a:ext cx="9587151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1697236" y="39672750"/>
            <a:ext cx="7064216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/>
          <p:cNvSpPr txBox="1"/>
          <p:nvPr userDrawn="1"/>
        </p:nvSpPr>
        <p:spPr>
          <a:xfrm>
            <a:off x="8898128" y="-7431816"/>
            <a:ext cx="18473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520" dirty="0"/>
          </a:p>
        </p:txBody>
      </p:sp>
    </p:spTree>
    <p:extLst>
      <p:ext uri="{BB962C8B-B14F-4D97-AF65-F5344CB8AC3E}">
        <p14:creationId xmlns:p14="http://schemas.microsoft.com/office/powerpoint/2010/main" val="192212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6" r:id="rId4"/>
    <p:sldLayoutId id="2147483721" r:id="rId5"/>
    <p:sldLayoutId id="2147483720" r:id="rId6"/>
    <p:sldLayoutId id="2147483722" r:id="rId7"/>
    <p:sldLayoutId id="2147483724" r:id="rId8"/>
    <p:sldLayoutId id="2147483725" r:id="rId9"/>
    <p:sldLayoutId id="2147483727" r:id="rId10"/>
    <p:sldLayoutId id="2147483728" r:id="rId11"/>
    <p:sldLayoutId id="2147483729" r:id="rId12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emf"/><Relationship Id="rId18" Type="http://schemas.openxmlformats.org/officeDocument/2006/relationships/image" Target="../media/image18.png"/><Relationship Id="rId3" Type="http://schemas.openxmlformats.org/officeDocument/2006/relationships/image" Target="../media/image5.png"/><Relationship Id="rId21" Type="http://schemas.openxmlformats.org/officeDocument/2006/relationships/image" Target="../media/image21.png"/><Relationship Id="rId7" Type="http://schemas.openxmlformats.org/officeDocument/2006/relationships/image" Target="../media/image8.png"/><Relationship Id="rId12" Type="http://schemas.openxmlformats.org/officeDocument/2006/relationships/image" Target="../media/image13.tmp"/><Relationship Id="rId17" Type="http://schemas.openxmlformats.org/officeDocument/2006/relationships/image" Target="../media/image17.tm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tmp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microsoft.com/office/2007/relationships/hdphoto" Target="../media/hdphoto1.wdp"/><Relationship Id="rId15" Type="http://schemas.microsoft.com/office/2007/relationships/hdphoto" Target="../media/hdphoto2.wdp"/><Relationship Id="rId23" Type="http://schemas.openxmlformats.org/officeDocument/2006/relationships/image" Target="../media/image23.tmp"/><Relationship Id="rId10" Type="http://schemas.openxmlformats.org/officeDocument/2006/relationships/image" Target="../media/image11.png"/><Relationship Id="rId19" Type="http://schemas.openxmlformats.org/officeDocument/2006/relationships/image" Target="../media/image19.tmp"/><Relationship Id="rId4" Type="http://schemas.openxmlformats.org/officeDocument/2006/relationships/image" Target="../media/image6.png"/><Relationship Id="rId9" Type="http://schemas.openxmlformats.org/officeDocument/2006/relationships/image" Target="../media/image10.emf"/><Relationship Id="rId14" Type="http://schemas.openxmlformats.org/officeDocument/2006/relationships/image" Target="../media/image15.png"/><Relationship Id="rId22" Type="http://schemas.openxmlformats.org/officeDocument/2006/relationships/image" Target="../media/image22.tm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tmp"/><Relationship Id="rId3" Type="http://schemas.openxmlformats.org/officeDocument/2006/relationships/image" Target="../media/image21.png"/><Relationship Id="rId7" Type="http://schemas.openxmlformats.org/officeDocument/2006/relationships/image" Target="../media/image26.tm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tmp"/><Relationship Id="rId5" Type="http://schemas.openxmlformats.org/officeDocument/2006/relationships/image" Target="../media/image25.tmp"/><Relationship Id="rId4" Type="http://schemas.openxmlformats.org/officeDocument/2006/relationships/image" Target="../media/image14.emf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2.tmp"/><Relationship Id="rId18" Type="http://schemas.openxmlformats.org/officeDocument/2006/relationships/image" Target="../media/image32.tmp"/><Relationship Id="rId3" Type="http://schemas.openxmlformats.org/officeDocument/2006/relationships/image" Target="../media/image26.tmp"/><Relationship Id="rId7" Type="http://schemas.openxmlformats.org/officeDocument/2006/relationships/image" Target="../media/image30.tmp"/><Relationship Id="rId12" Type="http://schemas.openxmlformats.org/officeDocument/2006/relationships/image" Target="../media/image25.tmp"/><Relationship Id="rId17" Type="http://schemas.openxmlformats.org/officeDocument/2006/relationships/image" Target="../media/image31.tm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11" Type="http://schemas.openxmlformats.org/officeDocument/2006/relationships/image" Target="../media/image14.emf"/><Relationship Id="rId5" Type="http://schemas.openxmlformats.org/officeDocument/2006/relationships/image" Target="../media/image29.tmp"/><Relationship Id="rId15" Type="http://schemas.openxmlformats.org/officeDocument/2006/relationships/image" Target="../media/image10.emf"/><Relationship Id="rId10" Type="http://schemas.openxmlformats.org/officeDocument/2006/relationships/image" Target="../media/image21.png"/><Relationship Id="rId19" Type="http://schemas.openxmlformats.org/officeDocument/2006/relationships/image" Target="../media/image33.png"/><Relationship Id="rId4" Type="http://schemas.openxmlformats.org/officeDocument/2006/relationships/image" Target="../media/image28.tmp"/><Relationship Id="rId9" Type="http://schemas.microsoft.com/office/2007/relationships/hdphoto" Target="../media/hdphoto2.wdp"/><Relationship Id="rId1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F316D802-7780-4979-9961-EA37DF70F2CB}"/>
              </a:ext>
            </a:extLst>
          </p:cNvPr>
          <p:cNvSpPr txBox="1"/>
          <p:nvPr/>
        </p:nvSpPr>
        <p:spPr>
          <a:xfrm>
            <a:off x="21794074" y="16785840"/>
            <a:ext cx="477660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b="1" dirty="0"/>
              <a:t>Noir</a:t>
            </a:r>
            <a:r>
              <a:rPr lang="fr-FR" sz="4000" dirty="0"/>
              <a:t> : Eléments nécessaires par système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b="1" dirty="0">
                <a:solidFill>
                  <a:srgbClr val="FFC000"/>
                </a:solidFill>
              </a:rPr>
              <a:t>Orange </a:t>
            </a:r>
            <a:r>
              <a:rPr lang="fr-FR" sz="4000" dirty="0"/>
              <a:t>: éléments de maintenance nécessaires par flotte de KOSMOS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4000" b="1" dirty="0">
                <a:solidFill>
                  <a:srgbClr val="0092D2"/>
                </a:solidFill>
              </a:rPr>
              <a:t>Bleu </a:t>
            </a:r>
            <a:r>
              <a:rPr lang="fr-FR" sz="4000" dirty="0"/>
              <a:t>: outils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C176FC3D-D5CE-4AC5-AE85-F503D23A5CC9}"/>
              </a:ext>
            </a:extLst>
          </p:cNvPr>
          <p:cNvSpPr txBox="1"/>
          <p:nvPr/>
        </p:nvSpPr>
        <p:spPr>
          <a:xfrm>
            <a:off x="17444321" y="38790050"/>
            <a:ext cx="1263709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500" b="1" dirty="0"/>
              <a:t>Eléments communs à toutes les versions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66F8504E-3F0F-4676-AD9E-1453A2FBC003}"/>
              </a:ext>
            </a:extLst>
          </p:cNvPr>
          <p:cNvGrpSpPr/>
          <p:nvPr/>
        </p:nvGrpSpPr>
        <p:grpSpPr>
          <a:xfrm>
            <a:off x="1371463" y="782266"/>
            <a:ext cx="27854503" cy="13519972"/>
            <a:chOff x="65178" y="651638"/>
            <a:chExt cx="27854503" cy="13519972"/>
          </a:xfrm>
        </p:grpSpPr>
        <p:grpSp>
          <p:nvGrpSpPr>
            <p:cNvPr id="172" name="Groupe 171">
              <a:extLst>
                <a:ext uri="{FF2B5EF4-FFF2-40B4-BE49-F238E27FC236}">
                  <a16:creationId xmlns:a16="http://schemas.microsoft.com/office/drawing/2014/main" id="{BAB40DD0-10F9-4001-91E5-034E84290508}"/>
                </a:ext>
              </a:extLst>
            </p:cNvPr>
            <p:cNvGrpSpPr/>
            <p:nvPr/>
          </p:nvGrpSpPr>
          <p:grpSpPr>
            <a:xfrm>
              <a:off x="3712710" y="10708080"/>
              <a:ext cx="2543059" cy="2447785"/>
              <a:chOff x="20662739" y="6470531"/>
              <a:chExt cx="2543059" cy="2447785"/>
            </a:xfrm>
          </p:grpSpPr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B3D4C98D-36CB-48CA-A697-3E2BAD7A6A51}"/>
                  </a:ext>
                </a:extLst>
              </p:cNvPr>
              <p:cNvSpPr txBox="1"/>
              <p:nvPr/>
            </p:nvSpPr>
            <p:spPr>
              <a:xfrm>
                <a:off x="20996729" y="6470531"/>
                <a:ext cx="161371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5-12 V charge</a:t>
                </a:r>
              </a:p>
              <a:p>
                <a:r>
                  <a:rPr lang="fr-FR" sz="2000" dirty="0"/>
                  <a:t>COB-1130 </a:t>
                </a:r>
              </a:p>
            </p:txBody>
          </p:sp>
          <p:pic>
            <p:nvPicPr>
              <p:cNvPr id="174" name="Image 173">
                <a:extLst>
                  <a:ext uri="{FF2B5EF4-FFF2-40B4-BE49-F238E27FC236}">
                    <a16:creationId xmlns:a16="http://schemas.microsoft.com/office/drawing/2014/main" id="{EE5DEC81-FE1D-4014-86D8-734FA3DA87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3365" t="29952" r="1747" b="16691"/>
              <a:stretch/>
            </p:blipFill>
            <p:spPr>
              <a:xfrm>
                <a:off x="20662739" y="7106409"/>
                <a:ext cx="2543059" cy="1811907"/>
              </a:xfrm>
              <a:prstGeom prst="rect">
                <a:avLst/>
              </a:prstGeom>
            </p:spPr>
          </p:pic>
        </p:grpSp>
        <p:pic>
          <p:nvPicPr>
            <p:cNvPr id="251" name="Image 250">
              <a:extLst>
                <a:ext uri="{FF2B5EF4-FFF2-40B4-BE49-F238E27FC236}">
                  <a16:creationId xmlns:a16="http://schemas.microsoft.com/office/drawing/2014/main" id="{75F5B15F-12FC-4F28-ABB9-E2ABF79C1C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22170" t="4230" r="22330" b="4270"/>
            <a:stretch/>
          </p:blipFill>
          <p:spPr>
            <a:xfrm rot="16200000">
              <a:off x="12165302" y="318459"/>
              <a:ext cx="5794730" cy="9553475"/>
            </a:xfrm>
            <a:prstGeom prst="rect">
              <a:avLst/>
            </a:prstGeom>
          </p:spPr>
        </p:pic>
        <p:pic>
          <p:nvPicPr>
            <p:cNvPr id="252" name="Image 251">
              <a:extLst>
                <a:ext uri="{FF2B5EF4-FFF2-40B4-BE49-F238E27FC236}">
                  <a16:creationId xmlns:a16="http://schemas.microsoft.com/office/drawing/2014/main" id="{E7F65EC4-C812-4433-A5F7-73DF4DCCC8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5550" t="9970" r="17596" b="5544"/>
            <a:stretch/>
          </p:blipFill>
          <p:spPr>
            <a:xfrm>
              <a:off x="19747822" y="2209440"/>
              <a:ext cx="4434555" cy="5604191"/>
            </a:xfrm>
            <a:prstGeom prst="rect">
              <a:avLst/>
            </a:prstGeom>
          </p:spPr>
        </p:pic>
        <p:pic>
          <p:nvPicPr>
            <p:cNvPr id="253" name="Image 252">
              <a:extLst>
                <a:ext uri="{FF2B5EF4-FFF2-40B4-BE49-F238E27FC236}">
                  <a16:creationId xmlns:a16="http://schemas.microsoft.com/office/drawing/2014/main" id="{FDB46A62-EA28-47E9-8CFD-42B35C7445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5550" t="9970" r="17596" b="5544"/>
            <a:stretch/>
          </p:blipFill>
          <p:spPr>
            <a:xfrm flipH="1">
              <a:off x="6021128" y="2253001"/>
              <a:ext cx="4434617" cy="5604269"/>
            </a:xfrm>
            <a:prstGeom prst="rect">
              <a:avLst/>
            </a:prstGeom>
          </p:spPr>
        </p:pic>
        <p:sp>
          <p:nvSpPr>
            <p:cNvPr id="261" name="ZoneTexte 260">
              <a:extLst>
                <a:ext uri="{FF2B5EF4-FFF2-40B4-BE49-F238E27FC236}">
                  <a16:creationId xmlns:a16="http://schemas.microsoft.com/office/drawing/2014/main" id="{7136E97D-A2A6-4EC8-BFA4-1DA5CE596612}"/>
                </a:ext>
              </a:extLst>
            </p:cNvPr>
            <p:cNvSpPr txBox="1"/>
            <p:nvPr/>
          </p:nvSpPr>
          <p:spPr>
            <a:xfrm>
              <a:off x="14252939" y="978882"/>
              <a:ext cx="1943161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Enclosure tube</a:t>
              </a:r>
            </a:p>
            <a:p>
              <a:r>
                <a:rPr lang="fr-FR" sz="2000" b="0" i="0" dirty="0">
                  <a:solidFill>
                    <a:srgbClr val="1D252C"/>
                  </a:solidFill>
                  <a:effectLst/>
                  <a:latin typeface="Roboto" panose="02000000000000000000" pitchFamily="2" charset="0"/>
                </a:rPr>
                <a:t>BR-101052-200</a:t>
              </a:r>
            </a:p>
            <a:p>
              <a:r>
                <a:rPr lang="fr-FR" sz="2000" dirty="0"/>
                <a:t>4’’     20 cm</a:t>
              </a:r>
            </a:p>
            <a:p>
              <a:r>
                <a:rPr lang="fr-FR" sz="2000" dirty="0" err="1"/>
                <a:t>Acrylic</a:t>
              </a:r>
              <a:endParaRPr lang="fr-FR" sz="2000" dirty="0"/>
            </a:p>
          </p:txBody>
        </p:sp>
        <p:sp>
          <p:nvSpPr>
            <p:cNvPr id="268" name="ZoneTexte 267">
              <a:extLst>
                <a:ext uri="{FF2B5EF4-FFF2-40B4-BE49-F238E27FC236}">
                  <a16:creationId xmlns:a16="http://schemas.microsoft.com/office/drawing/2014/main" id="{77E3F85F-0D13-43D6-9E23-6911243D427A}"/>
                </a:ext>
              </a:extLst>
            </p:cNvPr>
            <p:cNvSpPr txBox="1"/>
            <p:nvPr/>
          </p:nvSpPr>
          <p:spPr>
            <a:xfrm>
              <a:off x="7789915" y="906740"/>
              <a:ext cx="1314784" cy="984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Flange</a:t>
              </a:r>
              <a:r>
                <a:rPr lang="fr-FR" sz="2000" dirty="0"/>
                <a:t> cap</a:t>
              </a:r>
            </a:p>
            <a:p>
              <a:r>
                <a:rPr lang="fr-FR" sz="1800" b="0" i="0" dirty="0">
                  <a:solidFill>
                    <a:srgbClr val="1D252C"/>
                  </a:solidFill>
                  <a:effectLst/>
                  <a:latin typeface="Roboto" panose="02000000000000000000" pitchFamily="2" charset="0"/>
                </a:rPr>
                <a:t>BR-100665</a:t>
              </a:r>
            </a:p>
            <a:p>
              <a:r>
                <a:rPr lang="fr-FR" sz="2000" dirty="0"/>
                <a:t>4’’</a:t>
              </a:r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E07D91CB-E4B8-41A9-858B-7E27E9CE07EB}"/>
                </a:ext>
              </a:extLst>
            </p:cNvPr>
            <p:cNvGrpSpPr/>
            <p:nvPr/>
          </p:nvGrpSpPr>
          <p:grpSpPr>
            <a:xfrm>
              <a:off x="16067538" y="11294675"/>
              <a:ext cx="2980881" cy="1688310"/>
              <a:chOff x="11497162" y="6854323"/>
              <a:chExt cx="2980881" cy="1688310"/>
            </a:xfrm>
          </p:grpSpPr>
          <p:pic>
            <p:nvPicPr>
              <p:cNvPr id="44" name="Image 43">
                <a:extLst>
                  <a:ext uri="{FF2B5EF4-FFF2-40B4-BE49-F238E27FC236}">
                    <a16:creationId xmlns:a16="http://schemas.microsoft.com/office/drawing/2014/main" id="{A1C044CA-073E-4086-8210-27F17F1BA2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3476" t="27298" r="8743" b="32337"/>
              <a:stretch/>
            </p:blipFill>
            <p:spPr>
              <a:xfrm>
                <a:off x="12242575" y="7211403"/>
                <a:ext cx="2235468" cy="1331230"/>
              </a:xfrm>
              <a:prstGeom prst="rect">
                <a:avLst/>
              </a:prstGeom>
            </p:spPr>
          </p:pic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7825AFF1-0C4D-4A4C-9FC3-CBC0D32B3206}"/>
                  </a:ext>
                </a:extLst>
              </p:cNvPr>
              <p:cNvSpPr txBox="1"/>
              <p:nvPr/>
            </p:nvSpPr>
            <p:spPr>
              <a:xfrm>
                <a:off x="11497162" y="6854323"/>
                <a:ext cx="149892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TP </a:t>
                </a:r>
                <a:r>
                  <a:rPr lang="fr-FR" sz="2000" dirty="0" err="1"/>
                  <a:t>sensor</a:t>
                </a:r>
                <a:endParaRPr lang="fr-FR" sz="2000" dirty="0"/>
              </a:p>
              <a:p>
                <a:r>
                  <a:rPr lang="fr-FR" sz="2000" dirty="0"/>
                  <a:t>BR-100586</a:t>
                </a:r>
              </a:p>
            </p:txBody>
          </p:sp>
        </p:grp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C0368ACB-6288-44C6-B5CC-7DF23120BCC6}"/>
                </a:ext>
              </a:extLst>
            </p:cNvPr>
            <p:cNvGrpSpPr/>
            <p:nvPr/>
          </p:nvGrpSpPr>
          <p:grpSpPr>
            <a:xfrm>
              <a:off x="10761111" y="9046748"/>
              <a:ext cx="2715709" cy="3779225"/>
              <a:chOff x="10564913" y="7385135"/>
              <a:chExt cx="2715709" cy="3779225"/>
            </a:xfrm>
          </p:grpSpPr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AFB89B45-707D-430F-82C2-58E38880AAFB}"/>
                  </a:ext>
                </a:extLst>
              </p:cNvPr>
              <p:cNvGrpSpPr/>
              <p:nvPr/>
            </p:nvGrpSpPr>
            <p:grpSpPr>
              <a:xfrm>
                <a:off x="10643864" y="9320646"/>
                <a:ext cx="2636758" cy="1843714"/>
                <a:chOff x="19680004" y="6714747"/>
                <a:chExt cx="2636758" cy="1843714"/>
              </a:xfrm>
            </p:grpSpPr>
            <p:pic>
              <p:nvPicPr>
                <p:cNvPr id="120" name="Image 119">
                  <a:extLst>
                    <a:ext uri="{FF2B5EF4-FFF2-40B4-BE49-F238E27FC236}">
                      <a16:creationId xmlns:a16="http://schemas.microsoft.com/office/drawing/2014/main" id="{55BD4A93-A950-4CFE-9BDA-93E04ACCDC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680004" y="6714747"/>
                  <a:ext cx="1597306" cy="1527858"/>
                </a:xfrm>
                <a:prstGeom prst="rect">
                  <a:avLst/>
                </a:prstGeom>
              </p:spPr>
            </p:pic>
            <p:sp>
              <p:nvSpPr>
                <p:cNvPr id="121" name="ZoneTexte 120">
                  <a:extLst>
                    <a:ext uri="{FF2B5EF4-FFF2-40B4-BE49-F238E27FC236}">
                      <a16:creationId xmlns:a16="http://schemas.microsoft.com/office/drawing/2014/main" id="{E9879186-BF31-49BA-B841-8B5442D9F032}"/>
                    </a:ext>
                  </a:extLst>
                </p:cNvPr>
                <p:cNvSpPr txBox="1"/>
                <p:nvPr/>
              </p:nvSpPr>
              <p:spPr>
                <a:xfrm>
                  <a:off x="20635468" y="7850575"/>
                  <a:ext cx="168129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dirty="0" err="1"/>
                    <a:t>Locking</a:t>
                  </a:r>
                  <a:r>
                    <a:rPr lang="fr-FR" sz="2000" dirty="0"/>
                    <a:t> sleeve</a:t>
                  </a:r>
                </a:p>
                <a:p>
                  <a:r>
                    <a:rPr lang="fr-FR" sz="2000" dirty="0"/>
                    <a:t>COB-1001 </a:t>
                  </a:r>
                </a:p>
              </p:txBody>
            </p:sp>
          </p:grpSp>
          <p:grpSp>
            <p:nvGrpSpPr>
              <p:cNvPr id="35" name="Groupe 34">
                <a:extLst>
                  <a:ext uri="{FF2B5EF4-FFF2-40B4-BE49-F238E27FC236}">
                    <a16:creationId xmlns:a16="http://schemas.microsoft.com/office/drawing/2014/main" id="{A10AA054-F8DD-4548-B6F2-6F720E1D1B90}"/>
                  </a:ext>
                </a:extLst>
              </p:cNvPr>
              <p:cNvGrpSpPr/>
              <p:nvPr/>
            </p:nvGrpSpPr>
            <p:grpSpPr>
              <a:xfrm>
                <a:off x="10564913" y="7385135"/>
                <a:ext cx="2370500" cy="1667768"/>
                <a:chOff x="13238576" y="7026154"/>
                <a:chExt cx="2370500" cy="1667768"/>
              </a:xfrm>
            </p:grpSpPr>
            <p:pic>
              <p:nvPicPr>
                <p:cNvPr id="167" name="Image 166">
                  <a:extLst>
                    <a:ext uri="{FF2B5EF4-FFF2-40B4-BE49-F238E27FC236}">
                      <a16:creationId xmlns:a16="http://schemas.microsoft.com/office/drawing/2014/main" id="{49163035-45D2-4C23-AE1B-666B65558A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238576" y="7026154"/>
                  <a:ext cx="1736203" cy="1383175"/>
                </a:xfrm>
                <a:prstGeom prst="rect">
                  <a:avLst/>
                </a:prstGeom>
              </p:spPr>
            </p:pic>
            <p:sp>
              <p:nvSpPr>
                <p:cNvPr id="168" name="ZoneTexte 167">
                  <a:extLst>
                    <a:ext uri="{FF2B5EF4-FFF2-40B4-BE49-F238E27FC236}">
                      <a16:creationId xmlns:a16="http://schemas.microsoft.com/office/drawing/2014/main" id="{0EA22D79-81AB-4499-8B31-4C5E629647FD}"/>
                    </a:ext>
                  </a:extLst>
                </p:cNvPr>
                <p:cNvSpPr txBox="1"/>
                <p:nvPr/>
              </p:nvSpPr>
              <p:spPr>
                <a:xfrm>
                  <a:off x="14106677" y="7986036"/>
                  <a:ext cx="1502399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dirty="0" err="1"/>
                    <a:t>Dummy</a:t>
                  </a:r>
                  <a:r>
                    <a:rPr lang="fr-FR" sz="2000" dirty="0"/>
                    <a:t> Plug</a:t>
                  </a:r>
                </a:p>
                <a:p>
                  <a:r>
                    <a:rPr lang="fr-FR" sz="2000" dirty="0"/>
                    <a:t>COB-1002 </a:t>
                  </a:r>
                </a:p>
              </p:txBody>
            </p:sp>
          </p:grpSp>
        </p:grpSp>
        <p:grpSp>
          <p:nvGrpSpPr>
            <p:cNvPr id="114" name="Groupe 113">
              <a:extLst>
                <a:ext uri="{FF2B5EF4-FFF2-40B4-BE49-F238E27FC236}">
                  <a16:creationId xmlns:a16="http://schemas.microsoft.com/office/drawing/2014/main" id="{69385048-D7A4-44DE-9113-9DB641F22E62}"/>
                </a:ext>
              </a:extLst>
            </p:cNvPr>
            <p:cNvGrpSpPr/>
            <p:nvPr/>
          </p:nvGrpSpPr>
          <p:grpSpPr>
            <a:xfrm>
              <a:off x="1496557" y="8330080"/>
              <a:ext cx="2259247" cy="2190325"/>
              <a:chOff x="7245191" y="7249305"/>
              <a:chExt cx="2259247" cy="2190325"/>
            </a:xfrm>
          </p:grpSpPr>
          <p:pic>
            <p:nvPicPr>
              <p:cNvPr id="116" name="Image 115">
                <a:extLst>
                  <a:ext uri="{FF2B5EF4-FFF2-40B4-BE49-F238E27FC236}">
                    <a16:creationId xmlns:a16="http://schemas.microsoft.com/office/drawing/2014/main" id="{B02FDFC7-00A7-45E1-9F94-36AF80138C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7666" b="25718"/>
              <a:stretch/>
            </p:blipFill>
            <p:spPr>
              <a:xfrm>
                <a:off x="7425923" y="7305104"/>
                <a:ext cx="2078515" cy="213452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pic>
          <p:sp>
            <p:nvSpPr>
              <p:cNvPr id="132" name="ZoneTexte 131">
                <a:extLst>
                  <a:ext uri="{FF2B5EF4-FFF2-40B4-BE49-F238E27FC236}">
                    <a16:creationId xmlns:a16="http://schemas.microsoft.com/office/drawing/2014/main" id="{7CD7DE07-4FED-46F7-AE42-819A877B8414}"/>
                  </a:ext>
                </a:extLst>
              </p:cNvPr>
              <p:cNvSpPr txBox="1"/>
              <p:nvPr/>
            </p:nvSpPr>
            <p:spPr>
              <a:xfrm>
                <a:off x="7245191" y="7249305"/>
                <a:ext cx="1225977" cy="101566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fr-FR" sz="2000" dirty="0">
                    <a:solidFill>
                      <a:schemeClr val="tx1"/>
                    </a:solidFill>
                    <a:highlight>
                      <a:srgbClr val="FFFFFF"/>
                    </a:highlight>
                  </a:rPr>
                  <a:t>Ethernet</a:t>
                </a:r>
              </a:p>
              <a:p>
                <a:r>
                  <a:rPr lang="fr-FR" sz="2000" dirty="0">
                    <a:solidFill>
                      <a:schemeClr val="tx1"/>
                    </a:solidFill>
                    <a:highlight>
                      <a:srgbClr val="FFFFFF"/>
                    </a:highlight>
                  </a:rPr>
                  <a:t>COB-1180</a:t>
                </a:r>
              </a:p>
              <a:p>
                <a:r>
                  <a:rPr lang="fr-FR" sz="2000" dirty="0">
                    <a:solidFill>
                      <a:schemeClr val="tx1"/>
                    </a:solidFill>
                    <a:highlight>
                      <a:srgbClr val="FFFFFF"/>
                    </a:highlight>
                  </a:rPr>
                  <a:t>8 pin </a:t>
                </a:r>
              </a:p>
            </p:txBody>
          </p:sp>
        </p:grp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10B014F1-B465-4D88-BCFF-9823BED93C07}"/>
                </a:ext>
              </a:extLst>
            </p:cNvPr>
            <p:cNvGrpSpPr/>
            <p:nvPr/>
          </p:nvGrpSpPr>
          <p:grpSpPr>
            <a:xfrm>
              <a:off x="5647371" y="7992562"/>
              <a:ext cx="2525148" cy="2134526"/>
              <a:chOff x="11440119" y="12515409"/>
              <a:chExt cx="2525148" cy="2134526"/>
            </a:xfrm>
          </p:grpSpPr>
          <p:pic>
            <p:nvPicPr>
              <p:cNvPr id="150" name="Image 149">
                <a:extLst>
                  <a:ext uri="{FF2B5EF4-FFF2-40B4-BE49-F238E27FC236}">
                    <a16:creationId xmlns:a16="http://schemas.microsoft.com/office/drawing/2014/main" id="{CB9AD409-3086-4A36-A53C-B17D5C9D2F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27666" b="25718"/>
              <a:stretch/>
            </p:blipFill>
            <p:spPr>
              <a:xfrm flipH="1">
                <a:off x="11886753" y="12515409"/>
                <a:ext cx="2078514" cy="2134526"/>
              </a:xfrm>
              <a:prstGeom prst="rect">
                <a:avLst/>
              </a:prstGeom>
            </p:spPr>
          </p:pic>
          <p:sp>
            <p:nvSpPr>
              <p:cNvPr id="151" name="ZoneTexte 150">
                <a:extLst>
                  <a:ext uri="{FF2B5EF4-FFF2-40B4-BE49-F238E27FC236}">
                    <a16:creationId xmlns:a16="http://schemas.microsoft.com/office/drawing/2014/main" id="{6089C44B-7B22-4FEF-9EFD-83DCBBD7E14F}"/>
                  </a:ext>
                </a:extLst>
              </p:cNvPr>
              <p:cNvSpPr txBox="1"/>
              <p:nvPr/>
            </p:nvSpPr>
            <p:spPr>
              <a:xfrm>
                <a:off x="11440119" y="13651951"/>
                <a:ext cx="128368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Shunt </a:t>
                </a:r>
              </a:p>
              <a:p>
                <a:r>
                  <a:rPr lang="fr-FR" sz="2000" dirty="0"/>
                  <a:t>COB-1140 </a:t>
                </a:r>
              </a:p>
            </p:txBody>
          </p:sp>
        </p:grpSp>
        <p:grpSp>
          <p:nvGrpSpPr>
            <p:cNvPr id="224" name="Groupe 223">
              <a:extLst>
                <a:ext uri="{FF2B5EF4-FFF2-40B4-BE49-F238E27FC236}">
                  <a16:creationId xmlns:a16="http://schemas.microsoft.com/office/drawing/2014/main" id="{32E4974C-E924-4119-83F8-1E36AA33AD4A}"/>
                </a:ext>
              </a:extLst>
            </p:cNvPr>
            <p:cNvGrpSpPr/>
            <p:nvPr/>
          </p:nvGrpSpPr>
          <p:grpSpPr>
            <a:xfrm>
              <a:off x="22171653" y="8091377"/>
              <a:ext cx="4615608" cy="4538392"/>
              <a:chOff x="15171927" y="21724531"/>
              <a:chExt cx="4615608" cy="4538392"/>
            </a:xfrm>
          </p:grpSpPr>
          <p:pic>
            <p:nvPicPr>
              <p:cNvPr id="225" name="Image 224">
                <a:extLst>
                  <a:ext uri="{FF2B5EF4-FFF2-40B4-BE49-F238E27FC236}">
                    <a16:creationId xmlns:a16="http://schemas.microsoft.com/office/drawing/2014/main" id="{E518358D-7DF4-4657-ABC4-0B6DAC3B53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5171927" y="21724531"/>
                <a:ext cx="2463563" cy="1807937"/>
              </a:xfrm>
              <a:prstGeom prst="rect">
                <a:avLst/>
              </a:prstGeom>
            </p:spPr>
          </p:pic>
          <p:sp>
            <p:nvSpPr>
              <p:cNvPr id="226" name="ZoneTexte 225">
                <a:extLst>
                  <a:ext uri="{FF2B5EF4-FFF2-40B4-BE49-F238E27FC236}">
                    <a16:creationId xmlns:a16="http://schemas.microsoft.com/office/drawing/2014/main" id="{878DBA36-E6DF-4503-9606-3183F7B4F61C}"/>
                  </a:ext>
                </a:extLst>
              </p:cNvPr>
              <p:cNvSpPr txBox="1"/>
              <p:nvPr/>
            </p:nvSpPr>
            <p:spPr>
              <a:xfrm>
                <a:off x="16340587" y="23190734"/>
                <a:ext cx="27731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COB-3140 </a:t>
                </a:r>
              </a:p>
              <a:p>
                <a:r>
                  <a:rPr lang="fr-FR" sz="2000" dirty="0"/>
                  <a:t>(shunt fonctionnement)</a:t>
                </a:r>
              </a:p>
              <a:p>
                <a:r>
                  <a:rPr lang="fr-FR" sz="2000" dirty="0"/>
                  <a:t>4 pin à sertir</a:t>
                </a:r>
              </a:p>
            </p:txBody>
          </p:sp>
          <p:grpSp>
            <p:nvGrpSpPr>
              <p:cNvPr id="229" name="Groupe 228">
                <a:extLst>
                  <a:ext uri="{FF2B5EF4-FFF2-40B4-BE49-F238E27FC236}">
                    <a16:creationId xmlns:a16="http://schemas.microsoft.com/office/drawing/2014/main" id="{3B67358A-99DD-4FE2-ADF6-BAB2AD8F6A11}"/>
                  </a:ext>
                </a:extLst>
              </p:cNvPr>
              <p:cNvGrpSpPr/>
              <p:nvPr/>
            </p:nvGrpSpPr>
            <p:grpSpPr>
              <a:xfrm>
                <a:off x="15627565" y="23938911"/>
                <a:ext cx="3280615" cy="1643229"/>
                <a:chOff x="22012543" y="19470874"/>
                <a:chExt cx="3280615" cy="1643229"/>
              </a:xfrm>
            </p:grpSpPr>
            <p:pic>
              <p:nvPicPr>
                <p:cNvPr id="231" name="Image 230">
                  <a:extLst>
                    <a:ext uri="{FF2B5EF4-FFF2-40B4-BE49-F238E27FC236}">
                      <a16:creationId xmlns:a16="http://schemas.microsoft.com/office/drawing/2014/main" id="{5640158C-2946-4478-9ADD-F8652AFB83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 t="9838"/>
                <a:stretch/>
              </p:blipFill>
              <p:spPr>
                <a:xfrm>
                  <a:off x="23418059" y="19470874"/>
                  <a:ext cx="1875099" cy="1575835"/>
                </a:xfrm>
                <a:prstGeom prst="rect">
                  <a:avLst/>
                </a:prstGeom>
              </p:spPr>
            </p:pic>
            <p:sp>
              <p:nvSpPr>
                <p:cNvPr id="232" name="ZoneTexte 231">
                  <a:extLst>
                    <a:ext uri="{FF2B5EF4-FFF2-40B4-BE49-F238E27FC236}">
                      <a16:creationId xmlns:a16="http://schemas.microsoft.com/office/drawing/2014/main" id="{D0FAB232-FEB7-45B4-B04E-2089779D4B61}"/>
                    </a:ext>
                  </a:extLst>
                </p:cNvPr>
                <p:cNvSpPr txBox="1"/>
                <p:nvPr/>
              </p:nvSpPr>
              <p:spPr>
                <a:xfrm>
                  <a:off x="22012543" y="20406217"/>
                  <a:ext cx="1449499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dirty="0" err="1"/>
                    <a:t>Dummy</a:t>
                  </a:r>
                  <a:r>
                    <a:rPr lang="fr-FR" sz="2000" dirty="0"/>
                    <a:t> Cap</a:t>
                  </a:r>
                </a:p>
                <a:p>
                  <a:r>
                    <a:rPr lang="fr-FR" sz="2000" dirty="0"/>
                    <a:t>COB-1003</a:t>
                  </a:r>
                </a:p>
              </p:txBody>
            </p:sp>
          </p:grpSp>
          <p:sp>
            <p:nvSpPr>
              <p:cNvPr id="230" name="ZoneTexte 229">
                <a:extLst>
                  <a:ext uri="{FF2B5EF4-FFF2-40B4-BE49-F238E27FC236}">
                    <a16:creationId xmlns:a16="http://schemas.microsoft.com/office/drawing/2014/main" id="{581DFA41-1362-477B-BD1A-89F56118088A}"/>
                  </a:ext>
                </a:extLst>
              </p:cNvPr>
              <p:cNvSpPr txBox="1"/>
              <p:nvPr/>
            </p:nvSpPr>
            <p:spPr>
              <a:xfrm>
                <a:off x="15312526" y="25678148"/>
                <a:ext cx="447500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3200" dirty="0"/>
                  <a:t>Clé de fonctionnement</a:t>
                </a:r>
              </a:p>
            </p:txBody>
          </p:sp>
        </p:grpSp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8A4E8E52-F4D1-4DCC-A663-FB0CB397DE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9386" t="6027" r="7239" b="6267"/>
            <a:stretch/>
          </p:blipFill>
          <p:spPr>
            <a:xfrm>
              <a:off x="65178" y="2455391"/>
              <a:ext cx="5881947" cy="5279613"/>
            </a:xfrm>
            <a:prstGeom prst="rect">
              <a:avLst/>
            </a:prstGeom>
          </p:spPr>
        </p:pic>
        <p:sp>
          <p:nvSpPr>
            <p:cNvPr id="237" name="ZoneTexte 236">
              <a:extLst>
                <a:ext uri="{FF2B5EF4-FFF2-40B4-BE49-F238E27FC236}">
                  <a16:creationId xmlns:a16="http://schemas.microsoft.com/office/drawing/2014/main" id="{4087B970-6A08-426E-A7FE-79B71FF4790A}"/>
                </a:ext>
              </a:extLst>
            </p:cNvPr>
            <p:cNvSpPr txBox="1"/>
            <p:nvPr/>
          </p:nvSpPr>
          <p:spPr>
            <a:xfrm>
              <a:off x="669057" y="1689411"/>
              <a:ext cx="194316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End cap </a:t>
              </a:r>
              <a:r>
                <a:rPr lang="fr-FR" sz="2000" dirty="0" err="1"/>
                <a:t>Acrylic</a:t>
              </a:r>
              <a:endParaRPr lang="fr-FR" sz="2000" dirty="0"/>
            </a:p>
            <a:p>
              <a:r>
                <a:rPr lang="fr-FR" sz="2000" b="0" i="0" dirty="0">
                  <a:solidFill>
                    <a:srgbClr val="1D252C"/>
                  </a:solidFill>
                  <a:effectLst/>
                  <a:latin typeface="Roboto" panose="02000000000000000000" pitchFamily="2" charset="0"/>
                </a:rPr>
                <a:t>BR-102993-998</a:t>
              </a:r>
              <a:endParaRPr lang="fr-FR" sz="2000" dirty="0"/>
            </a:p>
            <a:p>
              <a:r>
                <a:rPr lang="fr-FR" sz="2000" dirty="0"/>
                <a:t>4’’</a:t>
              </a:r>
            </a:p>
          </p:txBody>
        </p:sp>
        <p:sp>
          <p:nvSpPr>
            <p:cNvPr id="239" name="ZoneTexte 238">
              <a:extLst>
                <a:ext uri="{FF2B5EF4-FFF2-40B4-BE49-F238E27FC236}">
                  <a16:creationId xmlns:a16="http://schemas.microsoft.com/office/drawing/2014/main" id="{6C32C6C4-06D0-4CC9-A3FB-923883182569}"/>
                </a:ext>
              </a:extLst>
            </p:cNvPr>
            <p:cNvSpPr txBox="1"/>
            <p:nvPr/>
          </p:nvSpPr>
          <p:spPr>
            <a:xfrm>
              <a:off x="20179313" y="1286658"/>
              <a:ext cx="1314784" cy="984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Flange</a:t>
              </a:r>
              <a:r>
                <a:rPr lang="fr-FR" sz="2000" dirty="0"/>
                <a:t> cap</a:t>
              </a:r>
            </a:p>
            <a:p>
              <a:r>
                <a:rPr lang="fr-FR" sz="1800" b="0" i="0" dirty="0">
                  <a:solidFill>
                    <a:srgbClr val="1D252C"/>
                  </a:solidFill>
                  <a:effectLst/>
                  <a:latin typeface="Roboto" panose="02000000000000000000" pitchFamily="2" charset="0"/>
                </a:rPr>
                <a:t>BR-100665</a:t>
              </a:r>
            </a:p>
            <a:p>
              <a:r>
                <a:rPr lang="fr-FR" sz="2000" dirty="0"/>
                <a:t>4’’</a:t>
              </a:r>
            </a:p>
          </p:txBody>
        </p:sp>
        <p:sp>
          <p:nvSpPr>
            <p:cNvPr id="240" name="ZoneTexte 239">
              <a:extLst>
                <a:ext uri="{FF2B5EF4-FFF2-40B4-BE49-F238E27FC236}">
                  <a16:creationId xmlns:a16="http://schemas.microsoft.com/office/drawing/2014/main" id="{A4E65806-927C-4212-9F3B-D45FFAE56625}"/>
                </a:ext>
              </a:extLst>
            </p:cNvPr>
            <p:cNvSpPr txBox="1"/>
            <p:nvPr/>
          </p:nvSpPr>
          <p:spPr>
            <a:xfrm>
              <a:off x="12864849" y="10312284"/>
              <a:ext cx="117368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0" dirty="0"/>
                <a:t>x3</a:t>
              </a:r>
            </a:p>
          </p:txBody>
        </p:sp>
        <p:sp>
          <p:nvSpPr>
            <p:cNvPr id="245" name="Rectangle : coins arrondis 244">
              <a:extLst>
                <a:ext uri="{FF2B5EF4-FFF2-40B4-BE49-F238E27FC236}">
                  <a16:creationId xmlns:a16="http://schemas.microsoft.com/office/drawing/2014/main" id="{DA450FEA-3C87-4FC3-88C0-20913D1FCD57}"/>
                </a:ext>
              </a:extLst>
            </p:cNvPr>
            <p:cNvSpPr/>
            <p:nvPr/>
          </p:nvSpPr>
          <p:spPr>
            <a:xfrm>
              <a:off x="135577" y="651638"/>
              <a:ext cx="27784104" cy="1351997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6" name="ZoneTexte 245">
              <a:extLst>
                <a:ext uri="{FF2B5EF4-FFF2-40B4-BE49-F238E27FC236}">
                  <a16:creationId xmlns:a16="http://schemas.microsoft.com/office/drawing/2014/main" id="{3769F0DB-E2FF-4B4D-B53A-90F658FD1906}"/>
                </a:ext>
              </a:extLst>
            </p:cNvPr>
            <p:cNvSpPr txBox="1"/>
            <p:nvPr/>
          </p:nvSpPr>
          <p:spPr>
            <a:xfrm>
              <a:off x="20401522" y="12923987"/>
              <a:ext cx="418472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600" b="1" dirty="0"/>
                <a:t>Caisson </a:t>
              </a:r>
              <a:r>
                <a:rPr lang="fr-FR" sz="6600" b="1" dirty="0" err="1"/>
                <a:t>Rpi</a:t>
              </a:r>
              <a:endParaRPr lang="fr-FR" sz="6600" b="1" dirty="0"/>
            </a:p>
          </p:txBody>
        </p:sp>
        <p:grpSp>
          <p:nvGrpSpPr>
            <p:cNvPr id="110" name="Groupe 109">
              <a:extLst>
                <a:ext uri="{FF2B5EF4-FFF2-40B4-BE49-F238E27FC236}">
                  <a16:creationId xmlns:a16="http://schemas.microsoft.com/office/drawing/2014/main" id="{D4ACFAD2-47DA-41B2-9D7A-A698BB755C82}"/>
                </a:ext>
              </a:extLst>
            </p:cNvPr>
            <p:cNvGrpSpPr/>
            <p:nvPr/>
          </p:nvGrpSpPr>
          <p:grpSpPr>
            <a:xfrm>
              <a:off x="16096684" y="8115465"/>
              <a:ext cx="2723164" cy="2214511"/>
              <a:chOff x="5752578" y="18988487"/>
              <a:chExt cx="2723164" cy="2214511"/>
            </a:xfrm>
          </p:grpSpPr>
          <p:pic>
            <p:nvPicPr>
              <p:cNvPr id="111" name="Image 110">
                <a:extLst>
                  <a:ext uri="{FF2B5EF4-FFF2-40B4-BE49-F238E27FC236}">
                    <a16:creationId xmlns:a16="http://schemas.microsoft.com/office/drawing/2014/main" id="{AD1E358A-EE65-486C-829B-FB978C7734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/>
              <a:srcRect l="23365" t="30329" r="22650" b="32229"/>
              <a:stretch/>
            </p:blipFill>
            <p:spPr>
              <a:xfrm>
                <a:off x="6116967" y="19567019"/>
                <a:ext cx="2358775" cy="1635979"/>
              </a:xfrm>
              <a:prstGeom prst="rect">
                <a:avLst/>
              </a:prstGeom>
            </p:spPr>
          </p:pic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9BDE11F3-7D26-4A04-92AC-44E2B932BF0C}"/>
                  </a:ext>
                </a:extLst>
              </p:cNvPr>
              <p:cNvSpPr txBox="1"/>
              <p:nvPr/>
            </p:nvSpPr>
            <p:spPr>
              <a:xfrm>
                <a:off x="5752578" y="18988487"/>
                <a:ext cx="207851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Pressure relief</a:t>
                </a:r>
              </a:p>
              <a:p>
                <a:r>
                  <a:rPr lang="fr-FR" sz="2000" dirty="0"/>
                  <a:t>BR-100804</a:t>
                </a:r>
              </a:p>
            </p:txBody>
          </p:sp>
        </p:grpSp>
      </p:grpSp>
      <p:graphicFrame>
        <p:nvGraphicFramePr>
          <p:cNvPr id="115" name="Tableau 114">
            <a:extLst>
              <a:ext uri="{FF2B5EF4-FFF2-40B4-BE49-F238E27FC236}">
                <a16:creationId xmlns:a16="http://schemas.microsoft.com/office/drawing/2014/main" id="{623F97FD-1F73-4F99-A9F5-4F828397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16016"/>
              </p:ext>
            </p:extLst>
          </p:nvPr>
        </p:nvGraphicFramePr>
        <p:xfrm>
          <a:off x="288178" y="23964283"/>
          <a:ext cx="19459642" cy="14354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06740">
                  <a:extLst>
                    <a:ext uri="{9D8B030D-6E8A-4147-A177-3AD203B41FA5}">
                      <a16:colId xmlns:a16="http://schemas.microsoft.com/office/drawing/2014/main" val="826937926"/>
                    </a:ext>
                  </a:extLst>
                </a:gridCol>
                <a:gridCol w="5214349">
                  <a:extLst>
                    <a:ext uri="{9D8B030D-6E8A-4147-A177-3AD203B41FA5}">
                      <a16:colId xmlns:a16="http://schemas.microsoft.com/office/drawing/2014/main" val="1077229644"/>
                    </a:ext>
                  </a:extLst>
                </a:gridCol>
                <a:gridCol w="1885336">
                  <a:extLst>
                    <a:ext uri="{9D8B030D-6E8A-4147-A177-3AD203B41FA5}">
                      <a16:colId xmlns:a16="http://schemas.microsoft.com/office/drawing/2014/main" val="617238783"/>
                    </a:ext>
                  </a:extLst>
                </a:gridCol>
                <a:gridCol w="1099594">
                  <a:extLst>
                    <a:ext uri="{9D8B030D-6E8A-4147-A177-3AD203B41FA5}">
                      <a16:colId xmlns:a16="http://schemas.microsoft.com/office/drawing/2014/main" val="4219996565"/>
                    </a:ext>
                  </a:extLst>
                </a:gridCol>
                <a:gridCol w="1131404">
                  <a:extLst>
                    <a:ext uri="{9D8B030D-6E8A-4147-A177-3AD203B41FA5}">
                      <a16:colId xmlns:a16="http://schemas.microsoft.com/office/drawing/2014/main" val="3793184219"/>
                    </a:ext>
                  </a:extLst>
                </a:gridCol>
                <a:gridCol w="858499">
                  <a:extLst>
                    <a:ext uri="{9D8B030D-6E8A-4147-A177-3AD203B41FA5}">
                      <a16:colId xmlns:a16="http://schemas.microsoft.com/office/drawing/2014/main" val="3369019508"/>
                    </a:ext>
                  </a:extLst>
                </a:gridCol>
                <a:gridCol w="1019515">
                  <a:extLst>
                    <a:ext uri="{9D8B030D-6E8A-4147-A177-3AD203B41FA5}">
                      <a16:colId xmlns:a16="http://schemas.microsoft.com/office/drawing/2014/main" val="3005541607"/>
                    </a:ext>
                  </a:extLst>
                </a:gridCol>
                <a:gridCol w="879676">
                  <a:extLst>
                    <a:ext uri="{9D8B030D-6E8A-4147-A177-3AD203B41FA5}">
                      <a16:colId xmlns:a16="http://schemas.microsoft.com/office/drawing/2014/main" val="3049234798"/>
                    </a:ext>
                  </a:extLst>
                </a:gridCol>
                <a:gridCol w="2964529">
                  <a:extLst>
                    <a:ext uri="{9D8B030D-6E8A-4147-A177-3AD203B41FA5}">
                      <a16:colId xmlns:a16="http://schemas.microsoft.com/office/drawing/2014/main" val="3907579341"/>
                    </a:ext>
                  </a:extLst>
                </a:gridCol>
              </a:tblGrid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Dénomination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Nomenclature </a:t>
                      </a:r>
                      <a:r>
                        <a:rPr lang="fr-FR" sz="20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Rov</a:t>
                      </a:r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Expert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>
                          <a:solidFill>
                            <a:schemeClr val="tx1"/>
                          </a:solidFill>
                          <a:effectLst/>
                        </a:rPr>
                        <a:t>Référence constructeur</a:t>
                      </a:r>
                      <a:endParaRPr lang="fr-FR" sz="2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Eléments communs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Version basique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Moteur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Stéréo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Double lumière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Maintenance &amp; Outils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832285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Tube 4’’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Acrylic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20 cm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Watertight Enclosure Tube: 4" Locking Series, Acrylic 20 mm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BR-101052-200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259121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Bride 4’’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4’’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BR-100665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18762539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5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Aluminum End Cap with 5 Holes (4″ Series)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BR-102993-005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8927602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10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Aluminum End Cap with 10 Holes (4″ Series)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494587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Hublot plan 4’’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End cap acrylic 4’’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BR-102993-998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3007180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Vent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M10 Enclosure Vent and Plug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BR-100783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3450702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Pressure Relief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Pressure Relief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BR-100804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626181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Capteur TP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BAR30 HIGH RESOLUTION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BR-100586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7993150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Presse étoupe 6.5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WLP-M10-6.5MM-HC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BR-100870-165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16930973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Presse étoupe 8.5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WLP-M10-8.5MM-HC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BR-100870-185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8097058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1)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Plug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COB-1002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500113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2)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Locking Sleeve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891555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femelle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Cap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COB-1003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109571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3 pin Bulkhead Connector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COB-1130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040424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4-pin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COB-1140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5739641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mâle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8-pin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COB-1180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85149067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 câble fils nus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3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COB-1231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241395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+câble nus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4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COB-1241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74382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femelle 4 pin à sertir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Cobalt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Cable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Termination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023550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femme + câble fils nus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8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COB-1281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2438917"/>
                  </a:ext>
                </a:extLst>
              </a:tr>
              <a:tr h="382134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Tube 2’’ </a:t>
                      </a:r>
                      <a:r>
                        <a:rPr lang="fr-FR" sz="2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Acrylic</a:t>
                      </a:r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10 cm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Enclosure tube 2’’ acrylic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BR-100230-101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4744321"/>
                  </a:ext>
                </a:extLst>
              </a:tr>
              <a:tr h="443121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Bouchon 2 trous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2’’  2 Holes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BR-100276-002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163220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Bride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BR-100276-998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793871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Hublot plan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End cap </a:t>
                      </a:r>
                      <a:r>
                        <a:rPr lang="fr-FR" sz="2000" dirty="0" err="1"/>
                        <a:t>acrylic</a:t>
                      </a:r>
                      <a:r>
                        <a:rPr lang="fr-FR" sz="2000" dirty="0"/>
                        <a:t>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BR-100094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7062031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Bouchon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000" dirty="0" err="1"/>
                        <a:t>WetLink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Penetrator</a:t>
                      </a:r>
                      <a:r>
                        <a:rPr lang="fr-FR" sz="2000" dirty="0"/>
                        <a:t> Blank (No Hole)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BR-100434-010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876960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Lumière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Lumen </a:t>
                      </a:r>
                      <a:r>
                        <a:rPr lang="fr-FR" sz="2000" dirty="0" err="1"/>
                        <a:t>Subsea</a:t>
                      </a:r>
                      <a:r>
                        <a:rPr lang="fr-FR" sz="2000" dirty="0"/>
                        <a:t> 1500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BR-100857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101728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Pompe à vide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Vacuum 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3152937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pour enlever les joints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O-ring Pick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BR-100574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685333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Clé de serrage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WetLink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Bulkhead Wrench M10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BR-100977-010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543639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de sertissage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Cobalt Series Cable Termination Tool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COB-3240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0092D2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9698613"/>
                  </a:ext>
                </a:extLst>
              </a:tr>
            </a:tbl>
          </a:graphicData>
        </a:graphic>
      </p:graphicFrame>
      <p:grpSp>
        <p:nvGrpSpPr>
          <p:cNvPr id="100" name="Groupe 99">
            <a:extLst>
              <a:ext uri="{FF2B5EF4-FFF2-40B4-BE49-F238E27FC236}">
                <a16:creationId xmlns:a16="http://schemas.microsoft.com/office/drawing/2014/main" id="{F496AEA9-D731-4CAD-B250-FECEAEADDC10}"/>
              </a:ext>
            </a:extLst>
          </p:cNvPr>
          <p:cNvGrpSpPr/>
          <p:nvPr/>
        </p:nvGrpSpPr>
        <p:grpSpPr>
          <a:xfrm>
            <a:off x="11629212" y="14606272"/>
            <a:ext cx="8642041" cy="9019480"/>
            <a:chOff x="21003344" y="31681406"/>
            <a:chExt cx="8642041" cy="9019480"/>
          </a:xfrm>
        </p:grpSpPr>
        <p:grpSp>
          <p:nvGrpSpPr>
            <p:cNvPr id="102" name="Groupe 101">
              <a:extLst>
                <a:ext uri="{FF2B5EF4-FFF2-40B4-BE49-F238E27FC236}">
                  <a16:creationId xmlns:a16="http://schemas.microsoft.com/office/drawing/2014/main" id="{BFA2704C-AF19-4123-B20F-6C410331AC58}"/>
                </a:ext>
              </a:extLst>
            </p:cNvPr>
            <p:cNvGrpSpPr/>
            <p:nvPr/>
          </p:nvGrpSpPr>
          <p:grpSpPr>
            <a:xfrm>
              <a:off x="21003344" y="31681406"/>
              <a:ext cx="8642041" cy="9019480"/>
              <a:chOff x="21255705" y="31576071"/>
              <a:chExt cx="8642041" cy="9019480"/>
            </a:xfrm>
          </p:grpSpPr>
          <p:grpSp>
            <p:nvGrpSpPr>
              <p:cNvPr id="105" name="Groupe 104">
                <a:extLst>
                  <a:ext uri="{FF2B5EF4-FFF2-40B4-BE49-F238E27FC236}">
                    <a16:creationId xmlns:a16="http://schemas.microsoft.com/office/drawing/2014/main" id="{23149E10-377F-4F64-8A22-A0241F27B2B7}"/>
                  </a:ext>
                </a:extLst>
              </p:cNvPr>
              <p:cNvGrpSpPr/>
              <p:nvPr/>
            </p:nvGrpSpPr>
            <p:grpSpPr>
              <a:xfrm>
                <a:off x="21255705" y="31576071"/>
                <a:ext cx="8642041" cy="9019480"/>
                <a:chOff x="21746176" y="33004220"/>
                <a:chExt cx="8642041" cy="9019480"/>
              </a:xfrm>
            </p:grpSpPr>
            <p:sp>
              <p:nvSpPr>
                <p:cNvPr id="119" name="ZoneTexte 118">
                  <a:extLst>
                    <a:ext uri="{FF2B5EF4-FFF2-40B4-BE49-F238E27FC236}">
                      <a16:creationId xmlns:a16="http://schemas.microsoft.com/office/drawing/2014/main" id="{538FDC35-181C-4A7C-B4CF-C48E8F3569CC}"/>
                    </a:ext>
                  </a:extLst>
                </p:cNvPr>
                <p:cNvSpPr txBox="1"/>
                <p:nvPr/>
              </p:nvSpPr>
              <p:spPr>
                <a:xfrm>
                  <a:off x="22736761" y="33632982"/>
                  <a:ext cx="1951945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400" dirty="0"/>
                    <a:t>Clé de serrage</a:t>
                  </a:r>
                </a:p>
                <a:p>
                  <a:r>
                    <a:rPr lang="fr-FR" sz="1800" b="0" i="0" dirty="0">
                      <a:solidFill>
                        <a:srgbClr val="1D252C"/>
                      </a:solidFill>
                      <a:effectLst/>
                      <a:latin typeface="Roboto" panose="02000000000000000000" pitchFamily="2" charset="0"/>
                    </a:rPr>
                    <a:t>BR-100977-010</a:t>
                  </a:r>
                  <a:endParaRPr lang="fr-FR" sz="6000" dirty="0"/>
                </a:p>
              </p:txBody>
            </p:sp>
            <p:grpSp>
              <p:nvGrpSpPr>
                <p:cNvPr id="122" name="Groupe 121">
                  <a:extLst>
                    <a:ext uri="{FF2B5EF4-FFF2-40B4-BE49-F238E27FC236}">
                      <a16:creationId xmlns:a16="http://schemas.microsoft.com/office/drawing/2014/main" id="{DDB7ED88-A94C-4E2A-BBD2-6EAF68B4B727}"/>
                    </a:ext>
                  </a:extLst>
                </p:cNvPr>
                <p:cNvGrpSpPr/>
                <p:nvPr/>
              </p:nvGrpSpPr>
              <p:grpSpPr>
                <a:xfrm>
                  <a:off x="25532401" y="33119176"/>
                  <a:ext cx="4855816" cy="6834111"/>
                  <a:chOff x="2586571" y="13055829"/>
                  <a:chExt cx="4855816" cy="6834111"/>
                </a:xfrm>
              </p:grpSpPr>
              <p:pic>
                <p:nvPicPr>
                  <p:cNvPr id="124" name="Image 123">
                    <a:extLst>
                      <a:ext uri="{FF2B5EF4-FFF2-40B4-BE49-F238E27FC236}">
                        <a16:creationId xmlns:a16="http://schemas.microsoft.com/office/drawing/2014/main" id="{706CFB01-6710-4641-932C-08D100FE4A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tretch>
                    <a:fillRect/>
                  </a:stretch>
                </p:blipFill>
                <p:spPr>
                  <a:xfrm>
                    <a:off x="2586571" y="13055829"/>
                    <a:ext cx="4855816" cy="6834111"/>
                  </a:xfrm>
                  <a:prstGeom prst="rect">
                    <a:avLst/>
                  </a:prstGeom>
                </p:spPr>
              </p:pic>
              <p:sp>
                <p:nvSpPr>
                  <p:cNvPr id="125" name="Rectangle 124">
                    <a:extLst>
                      <a:ext uri="{FF2B5EF4-FFF2-40B4-BE49-F238E27FC236}">
                        <a16:creationId xmlns:a16="http://schemas.microsoft.com/office/drawing/2014/main" id="{75C09A76-11AB-435F-ABEE-9EEF5A29F95B}"/>
                      </a:ext>
                    </a:extLst>
                  </p:cNvPr>
                  <p:cNvSpPr/>
                  <p:nvPr/>
                </p:nvSpPr>
                <p:spPr>
                  <a:xfrm>
                    <a:off x="4688387" y="13684225"/>
                    <a:ext cx="1688411" cy="70788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fr-FR" sz="2000" dirty="0"/>
                      <a:t>Vacuum </a:t>
                    </a:r>
                    <a:r>
                      <a:rPr lang="fr-FR" sz="2000" dirty="0" err="1"/>
                      <a:t>Pump</a:t>
                    </a:r>
                    <a:endParaRPr lang="fr-FR" sz="2000" dirty="0"/>
                  </a:p>
                  <a:p>
                    <a:r>
                      <a:rPr lang="fr-FR" sz="2000" dirty="0"/>
                      <a:t>BR-100297</a:t>
                    </a:r>
                  </a:p>
                </p:txBody>
              </p:sp>
            </p:grpSp>
            <p:sp>
              <p:nvSpPr>
                <p:cNvPr id="123" name="Rectangle : coins arrondis 122">
                  <a:extLst>
                    <a:ext uri="{FF2B5EF4-FFF2-40B4-BE49-F238E27FC236}">
                      <a16:creationId xmlns:a16="http://schemas.microsoft.com/office/drawing/2014/main" id="{DFF7C943-708E-46BB-A2F9-C48984C99FFE}"/>
                    </a:ext>
                  </a:extLst>
                </p:cNvPr>
                <p:cNvSpPr/>
                <p:nvPr/>
              </p:nvSpPr>
              <p:spPr>
                <a:xfrm>
                  <a:off x="21746176" y="33004220"/>
                  <a:ext cx="8642041" cy="9019480"/>
                </a:xfrm>
                <a:prstGeom prst="roundRect">
                  <a:avLst/>
                </a:prstGeom>
                <a:noFill/>
                <a:ln w="12700">
                  <a:solidFill>
                    <a:srgbClr val="0092D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0C134516-FB87-47F8-8D13-41556ABF65D1}"/>
                  </a:ext>
                </a:extLst>
              </p:cNvPr>
              <p:cNvSpPr txBox="1"/>
              <p:nvPr/>
            </p:nvSpPr>
            <p:spPr>
              <a:xfrm>
                <a:off x="27143746" y="39689266"/>
                <a:ext cx="1564852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4400" b="1" dirty="0"/>
                  <a:t>Outils</a:t>
                </a:r>
              </a:p>
            </p:txBody>
          </p:sp>
          <p:grpSp>
            <p:nvGrpSpPr>
              <p:cNvPr id="113" name="Groupe 112">
                <a:extLst>
                  <a:ext uri="{FF2B5EF4-FFF2-40B4-BE49-F238E27FC236}">
                    <a16:creationId xmlns:a16="http://schemas.microsoft.com/office/drawing/2014/main" id="{B4C014A4-8988-4770-9300-5DDD05F08F3B}"/>
                  </a:ext>
                </a:extLst>
              </p:cNvPr>
              <p:cNvGrpSpPr/>
              <p:nvPr/>
            </p:nvGrpSpPr>
            <p:grpSpPr>
              <a:xfrm>
                <a:off x="24506361" y="35666866"/>
                <a:ext cx="2857500" cy="1318747"/>
                <a:chOff x="18232886" y="25084676"/>
                <a:chExt cx="2857500" cy="1318747"/>
              </a:xfrm>
            </p:grpSpPr>
            <p:pic>
              <p:nvPicPr>
                <p:cNvPr id="117" name="Image 116">
                  <a:extLst>
                    <a:ext uri="{FF2B5EF4-FFF2-40B4-BE49-F238E27FC236}">
                      <a16:creationId xmlns:a16="http://schemas.microsoft.com/office/drawing/2014/main" id="{A330A8DF-078B-46F3-9C74-59056DBBE7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/>
                <a:srcRect t="36319" b="37007"/>
                <a:stretch/>
              </p:blipFill>
              <p:spPr>
                <a:xfrm>
                  <a:off x="18232886" y="25641232"/>
                  <a:ext cx="2857500" cy="762191"/>
                </a:xfrm>
                <a:prstGeom prst="rect">
                  <a:avLst/>
                </a:prstGeom>
              </p:spPr>
            </p:pic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89BB691E-51B2-4210-9062-63DB60B198A7}"/>
                    </a:ext>
                  </a:extLst>
                </p:cNvPr>
                <p:cNvSpPr/>
                <p:nvPr/>
              </p:nvSpPr>
              <p:spPr>
                <a:xfrm>
                  <a:off x="19048205" y="25084676"/>
                  <a:ext cx="1483098" cy="70788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>
                  <a:defPPr>
                    <a:defRPr lang="fr-FR"/>
                  </a:defPPr>
                  <a:lvl1pPr marL="0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2087941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4175882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6263823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8351764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0439705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2527646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14615587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16703528" algn="l" defTabSz="2087941" rtl="0" eaLnBrk="1" latinLnBrk="0" hangingPunct="1">
                    <a:defRPr sz="822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fr-FR" sz="2000" dirty="0">
                      <a:solidFill>
                        <a:srgbClr val="1D252C"/>
                      </a:solidFill>
                      <a:latin typeface="Roboto"/>
                    </a:rPr>
                    <a:t>O ring </a:t>
                  </a:r>
                  <a:r>
                    <a:rPr lang="fr-FR" sz="2000" dirty="0" err="1">
                      <a:solidFill>
                        <a:srgbClr val="1D252C"/>
                      </a:solidFill>
                      <a:latin typeface="Roboto"/>
                    </a:rPr>
                    <a:t>pick</a:t>
                  </a:r>
                  <a:endParaRPr lang="fr-FR" sz="2000" dirty="0">
                    <a:solidFill>
                      <a:srgbClr val="1D252C"/>
                    </a:solidFill>
                    <a:latin typeface="Roboto"/>
                  </a:endParaRPr>
                </a:p>
                <a:p>
                  <a:r>
                    <a:rPr lang="fr-FR" sz="2000" dirty="0">
                      <a:solidFill>
                        <a:srgbClr val="1D252C"/>
                      </a:solidFill>
                      <a:latin typeface="Roboto"/>
                    </a:rPr>
                    <a:t>BR-100574</a:t>
                  </a:r>
                  <a:endParaRPr lang="fr-FR" sz="2000" dirty="0"/>
                </a:p>
              </p:txBody>
            </p:sp>
          </p:grpSp>
        </p:grpSp>
        <p:pic>
          <p:nvPicPr>
            <p:cNvPr id="103" name="Image 102">
              <a:extLst>
                <a:ext uri="{FF2B5EF4-FFF2-40B4-BE49-F238E27FC236}">
                  <a16:creationId xmlns:a16="http://schemas.microsoft.com/office/drawing/2014/main" id="{1FBCD431-11BA-42A5-B28E-A2671A30E1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8" t="5280" r="8368" b="6016"/>
            <a:stretch/>
          </p:blipFill>
          <p:spPr>
            <a:xfrm>
              <a:off x="21905687" y="36688937"/>
              <a:ext cx="2997818" cy="2264534"/>
            </a:xfrm>
            <a:prstGeom prst="rect">
              <a:avLst/>
            </a:prstGeom>
          </p:spPr>
        </p:pic>
        <p:sp>
          <p:nvSpPr>
            <p:cNvPr id="104" name="ZoneTexte 103">
              <a:extLst>
                <a:ext uri="{FF2B5EF4-FFF2-40B4-BE49-F238E27FC236}">
                  <a16:creationId xmlns:a16="http://schemas.microsoft.com/office/drawing/2014/main" id="{91316DC5-DEA8-48C9-94B9-638CE9678F06}"/>
                </a:ext>
              </a:extLst>
            </p:cNvPr>
            <p:cNvSpPr txBox="1"/>
            <p:nvPr/>
          </p:nvSpPr>
          <p:spPr>
            <a:xfrm>
              <a:off x="21653430" y="38992650"/>
              <a:ext cx="40828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COB 3240     Outil de sertissage Shunt</a:t>
              </a:r>
            </a:p>
            <a:p>
              <a:r>
                <a:rPr lang="fr-FR" sz="2000" dirty="0"/>
                <a:t>Cobalt </a:t>
              </a:r>
              <a:r>
                <a:rPr lang="fr-FR" sz="2000" dirty="0" err="1"/>
                <a:t>Series</a:t>
              </a:r>
              <a:r>
                <a:rPr lang="fr-FR" sz="2000" dirty="0"/>
                <a:t> Cable </a:t>
              </a:r>
              <a:r>
                <a:rPr lang="fr-FR" sz="2000" dirty="0" err="1"/>
                <a:t>Termination</a:t>
              </a:r>
              <a:r>
                <a:rPr lang="fr-FR" sz="2000" dirty="0"/>
                <a:t> Tool</a:t>
              </a:r>
            </a:p>
            <a:p>
              <a:r>
                <a:rPr lang="fr-FR" sz="2000" dirty="0"/>
                <a:t>4-pin</a:t>
              </a:r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D3F4C1CC-F29C-49E9-9109-82EA6C504963}"/>
              </a:ext>
            </a:extLst>
          </p:cNvPr>
          <p:cNvGrpSpPr/>
          <p:nvPr/>
        </p:nvGrpSpPr>
        <p:grpSpPr>
          <a:xfrm>
            <a:off x="1084827" y="15860578"/>
            <a:ext cx="9437924" cy="5749208"/>
            <a:chOff x="2364848" y="16699312"/>
            <a:chExt cx="9437924" cy="5749208"/>
          </a:xfrm>
        </p:grpSpPr>
        <p:grpSp>
          <p:nvGrpSpPr>
            <p:cNvPr id="188" name="Groupe 187">
              <a:extLst>
                <a:ext uri="{FF2B5EF4-FFF2-40B4-BE49-F238E27FC236}">
                  <a16:creationId xmlns:a16="http://schemas.microsoft.com/office/drawing/2014/main" id="{F461A9C1-B48A-468C-93EB-FF37B5F4C267}"/>
                </a:ext>
              </a:extLst>
            </p:cNvPr>
            <p:cNvGrpSpPr/>
            <p:nvPr/>
          </p:nvGrpSpPr>
          <p:grpSpPr>
            <a:xfrm>
              <a:off x="2456288" y="17337371"/>
              <a:ext cx="2962361" cy="3317750"/>
              <a:chOff x="23846837" y="15151479"/>
              <a:chExt cx="2962361" cy="3317750"/>
            </a:xfrm>
          </p:grpSpPr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648917DD-DDBB-4422-8566-E6D457618BD2}"/>
                  </a:ext>
                </a:extLst>
              </p:cNvPr>
              <p:cNvSpPr txBox="1"/>
              <p:nvPr/>
            </p:nvSpPr>
            <p:spPr>
              <a:xfrm>
                <a:off x="23846837" y="17453566"/>
                <a:ext cx="224664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COB-1281</a:t>
                </a:r>
              </a:p>
              <a:p>
                <a:r>
                  <a:rPr lang="fr-FR" sz="2000" dirty="0"/>
                  <a:t>8 pin</a:t>
                </a:r>
              </a:p>
              <a:p>
                <a:r>
                  <a:rPr lang="fr-FR" sz="2000" dirty="0"/>
                  <a:t>1 m de longueur</a:t>
                </a:r>
              </a:p>
            </p:txBody>
          </p:sp>
          <p:sp>
            <p:nvSpPr>
              <p:cNvPr id="190" name="ZoneTexte 189">
                <a:extLst>
                  <a:ext uri="{FF2B5EF4-FFF2-40B4-BE49-F238E27FC236}">
                    <a16:creationId xmlns:a16="http://schemas.microsoft.com/office/drawing/2014/main" id="{0BEAC8ED-0090-4A60-A964-DC8CC28D0AA4}"/>
                  </a:ext>
                </a:extLst>
              </p:cNvPr>
              <p:cNvSpPr txBox="1"/>
              <p:nvPr/>
            </p:nvSpPr>
            <p:spPr>
              <a:xfrm>
                <a:off x="24065300" y="15151479"/>
                <a:ext cx="27438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200" dirty="0"/>
                  <a:t>Cable Ethernet</a:t>
                </a:r>
              </a:p>
            </p:txBody>
          </p:sp>
        </p:grpSp>
        <p:pic>
          <p:nvPicPr>
            <p:cNvPr id="137" name="Image 136">
              <a:extLst>
                <a:ext uri="{FF2B5EF4-FFF2-40B4-BE49-F238E27FC236}">
                  <a16:creationId xmlns:a16="http://schemas.microsoft.com/office/drawing/2014/main" id="{053B826F-59BD-4759-B629-A0F2DB430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877152" y="17295649"/>
              <a:ext cx="3352115" cy="2388774"/>
            </a:xfrm>
            <a:prstGeom prst="rect">
              <a:avLst/>
            </a:prstGeom>
          </p:spPr>
        </p:pic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CC184738-30BB-4947-A498-7A5E34A1F91D}"/>
                </a:ext>
              </a:extLst>
            </p:cNvPr>
            <p:cNvGrpSpPr/>
            <p:nvPr/>
          </p:nvGrpSpPr>
          <p:grpSpPr>
            <a:xfrm>
              <a:off x="2364848" y="16699312"/>
              <a:ext cx="9437924" cy="5749208"/>
              <a:chOff x="894799" y="22452111"/>
              <a:chExt cx="9437924" cy="5749208"/>
            </a:xfrm>
          </p:grpSpPr>
          <p:pic>
            <p:nvPicPr>
              <p:cNvPr id="62" name="Image 61">
                <a:extLst>
                  <a:ext uri="{FF2B5EF4-FFF2-40B4-BE49-F238E27FC236}">
                    <a16:creationId xmlns:a16="http://schemas.microsoft.com/office/drawing/2014/main" id="{CCB89C2D-4E4B-498B-A647-E4928DA065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562" t="30585" r="5543" b="27280"/>
              <a:stretch/>
            </p:blipFill>
            <p:spPr>
              <a:xfrm>
                <a:off x="6113152" y="22623652"/>
                <a:ext cx="4182619" cy="2005055"/>
              </a:xfrm>
              <a:prstGeom prst="roundRect">
                <a:avLst/>
              </a:prstGeom>
            </p:spPr>
          </p:pic>
          <p:grpSp>
            <p:nvGrpSpPr>
              <p:cNvPr id="140" name="Groupe 139">
                <a:extLst>
                  <a:ext uri="{FF2B5EF4-FFF2-40B4-BE49-F238E27FC236}">
                    <a16:creationId xmlns:a16="http://schemas.microsoft.com/office/drawing/2014/main" id="{3EE25ABE-5465-4AE6-AB00-BCCE6A610A75}"/>
                  </a:ext>
                </a:extLst>
              </p:cNvPr>
              <p:cNvGrpSpPr/>
              <p:nvPr/>
            </p:nvGrpSpPr>
            <p:grpSpPr>
              <a:xfrm>
                <a:off x="894799" y="22452111"/>
                <a:ext cx="9437924" cy="5749208"/>
                <a:chOff x="18531344" y="14816101"/>
                <a:chExt cx="9437924" cy="5749208"/>
              </a:xfrm>
            </p:grpSpPr>
            <p:sp>
              <p:nvSpPr>
                <p:cNvPr id="143" name="ZoneTexte 142">
                  <a:extLst>
                    <a:ext uri="{FF2B5EF4-FFF2-40B4-BE49-F238E27FC236}">
                      <a16:creationId xmlns:a16="http://schemas.microsoft.com/office/drawing/2014/main" id="{DCB3837A-E06E-454C-AF14-63EEC88A769D}"/>
                    </a:ext>
                  </a:extLst>
                </p:cNvPr>
                <p:cNvSpPr txBox="1"/>
                <p:nvPr/>
              </p:nvSpPr>
              <p:spPr>
                <a:xfrm>
                  <a:off x="25239233" y="15413171"/>
                  <a:ext cx="2246647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2000" dirty="0"/>
                    <a:t>COB-1231</a:t>
                  </a:r>
                </a:p>
                <a:p>
                  <a:r>
                    <a:rPr lang="fr-FR" sz="2000" dirty="0"/>
                    <a:t>3 pin</a:t>
                  </a:r>
                </a:p>
                <a:p>
                  <a:r>
                    <a:rPr lang="fr-FR" sz="2000" dirty="0"/>
                    <a:t>1 m de longueur</a:t>
                  </a:r>
                </a:p>
              </p:txBody>
            </p:sp>
            <p:sp>
              <p:nvSpPr>
                <p:cNvPr id="144" name="Rectangle : coins arrondis 143">
                  <a:extLst>
                    <a:ext uri="{FF2B5EF4-FFF2-40B4-BE49-F238E27FC236}">
                      <a16:creationId xmlns:a16="http://schemas.microsoft.com/office/drawing/2014/main" id="{F432B956-AB1A-43F6-A906-ED2CD89D3D78}"/>
                    </a:ext>
                  </a:extLst>
                </p:cNvPr>
                <p:cNvSpPr/>
                <p:nvPr/>
              </p:nvSpPr>
              <p:spPr>
                <a:xfrm>
                  <a:off x="18531344" y="14816101"/>
                  <a:ext cx="9437924" cy="5749208"/>
                </a:xfrm>
                <a:prstGeom prst="roundRect">
                  <a:avLst/>
                </a:prstGeom>
                <a:noFill/>
                <a:ln w="28575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B075C1AF-EB0C-4DC8-8359-82327CD66F08}"/>
                  </a:ext>
                </a:extLst>
              </p:cNvPr>
              <p:cNvSpPr txBox="1"/>
              <p:nvPr/>
            </p:nvSpPr>
            <p:spPr>
              <a:xfrm>
                <a:off x="5792262" y="24210908"/>
                <a:ext cx="3684775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200" dirty="0"/>
                  <a:t>Cable chargement de batterie </a:t>
                </a:r>
              </a:p>
            </p:txBody>
          </p:sp>
        </p:grpSp>
        <p:pic>
          <p:nvPicPr>
            <p:cNvPr id="107" name="Image 106">
              <a:extLst>
                <a:ext uri="{FF2B5EF4-FFF2-40B4-BE49-F238E27FC236}">
                  <a16:creationId xmlns:a16="http://schemas.microsoft.com/office/drawing/2014/main" id="{6567D8D8-FDE0-4EE2-B5F0-2AA044658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864988" y="20544024"/>
              <a:ext cx="3318387" cy="1802825"/>
            </a:xfrm>
            <a:prstGeom prst="rect">
              <a:avLst/>
            </a:prstGeom>
          </p:spPr>
        </p:pic>
        <p:sp>
          <p:nvSpPr>
            <p:cNvPr id="108" name="ZoneTexte 107">
              <a:extLst>
                <a:ext uri="{FF2B5EF4-FFF2-40B4-BE49-F238E27FC236}">
                  <a16:creationId xmlns:a16="http://schemas.microsoft.com/office/drawing/2014/main" id="{B878685D-7E0E-4834-B592-804B099FFFA9}"/>
                </a:ext>
              </a:extLst>
            </p:cNvPr>
            <p:cNvSpPr txBox="1"/>
            <p:nvPr/>
          </p:nvSpPr>
          <p:spPr>
            <a:xfrm>
              <a:off x="7262311" y="21122583"/>
              <a:ext cx="12836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COB-1241 </a:t>
              </a:r>
            </a:p>
          </p:txBody>
        </p:sp>
        <p:sp>
          <p:nvSpPr>
            <p:cNvPr id="127" name="ZoneTexte 126">
              <a:extLst>
                <a:ext uri="{FF2B5EF4-FFF2-40B4-BE49-F238E27FC236}">
                  <a16:creationId xmlns:a16="http://schemas.microsoft.com/office/drawing/2014/main" id="{C048E40B-41F2-4439-820F-5984C29B21AB}"/>
                </a:ext>
              </a:extLst>
            </p:cNvPr>
            <p:cNvSpPr txBox="1"/>
            <p:nvPr/>
          </p:nvSpPr>
          <p:spPr>
            <a:xfrm>
              <a:off x="8532955" y="21679448"/>
              <a:ext cx="271881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dirty="0"/>
                <a:t>Clé de charge</a:t>
              </a: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E40E18B5-FB74-4CE2-813B-D2A96D77888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67396" y="16088654"/>
            <a:ext cx="3429297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4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2ECF079F-93B6-43B2-9752-A88BF2BDC0B1}"/>
              </a:ext>
            </a:extLst>
          </p:cNvPr>
          <p:cNvGrpSpPr/>
          <p:nvPr/>
        </p:nvGrpSpPr>
        <p:grpSpPr>
          <a:xfrm>
            <a:off x="17573595" y="13059618"/>
            <a:ext cx="10294563" cy="7637324"/>
            <a:chOff x="10257995" y="8794509"/>
            <a:chExt cx="10294563" cy="7637324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1E27B154-4692-413F-8789-CE50986EAAE1}"/>
                </a:ext>
              </a:extLst>
            </p:cNvPr>
            <p:cNvGrpSpPr/>
            <p:nvPr/>
          </p:nvGrpSpPr>
          <p:grpSpPr>
            <a:xfrm>
              <a:off x="10257995" y="8794509"/>
              <a:ext cx="10294563" cy="7637324"/>
              <a:chOff x="21160641" y="23043843"/>
              <a:chExt cx="10294563" cy="7637324"/>
            </a:xfrm>
          </p:grpSpPr>
          <p:sp>
            <p:nvSpPr>
              <p:cNvPr id="5" name="Rectangle : coins arrondis 4">
                <a:extLst>
                  <a:ext uri="{FF2B5EF4-FFF2-40B4-BE49-F238E27FC236}">
                    <a16:creationId xmlns:a16="http://schemas.microsoft.com/office/drawing/2014/main" id="{18D12946-9B1E-4618-A045-B42407B22624}"/>
                  </a:ext>
                </a:extLst>
              </p:cNvPr>
              <p:cNvSpPr/>
              <p:nvPr/>
            </p:nvSpPr>
            <p:spPr>
              <a:xfrm>
                <a:off x="21160641" y="23043843"/>
                <a:ext cx="10294563" cy="7636472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90800AC1-7CFF-4E60-89B5-0A90B397C163}"/>
                  </a:ext>
                </a:extLst>
              </p:cNvPr>
              <p:cNvSpPr txBox="1"/>
              <p:nvPr/>
            </p:nvSpPr>
            <p:spPr>
              <a:xfrm>
                <a:off x="21989132" y="29911726"/>
                <a:ext cx="439442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400" b="1" dirty="0"/>
                  <a:t>Caisson moteur</a:t>
                </a:r>
              </a:p>
            </p:txBody>
          </p:sp>
        </p:grp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22BC07EC-17F1-40F1-B8F7-30F65767FB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11715060" y="9190117"/>
              <a:ext cx="2749826" cy="1757060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B69D0F4C-4A98-48B9-8085-DE299A6D388F}"/>
                </a:ext>
              </a:extLst>
            </p:cNvPr>
            <p:cNvSpPr txBox="1"/>
            <p:nvPr/>
          </p:nvSpPr>
          <p:spPr>
            <a:xfrm>
              <a:off x="11296035" y="9185106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E801D3F6-1BDE-491A-BCAC-3892A5222EDC}"/>
                </a:ext>
              </a:extLst>
            </p:cNvPr>
            <p:cNvGrpSpPr/>
            <p:nvPr/>
          </p:nvGrpSpPr>
          <p:grpSpPr>
            <a:xfrm>
              <a:off x="15618182" y="11608751"/>
              <a:ext cx="4710111" cy="2070943"/>
              <a:chOff x="17165543" y="8360833"/>
              <a:chExt cx="4710111" cy="2070943"/>
            </a:xfrm>
          </p:grpSpPr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7844D51-5176-4C02-940B-2D8F47443BE3}"/>
                  </a:ext>
                </a:extLst>
              </p:cNvPr>
              <p:cNvSpPr txBox="1"/>
              <p:nvPr/>
            </p:nvSpPr>
            <p:spPr>
              <a:xfrm>
                <a:off x="17165543" y="8360833"/>
                <a:ext cx="149156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Alim moteur</a:t>
                </a:r>
              </a:p>
              <a:p>
                <a:r>
                  <a:rPr lang="fr-FR" sz="2000" dirty="0"/>
                  <a:t>COB-1231 </a:t>
                </a:r>
              </a:p>
            </p:txBody>
          </p:sp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50AF7D7B-EA19-4B2F-B019-2169F1C2EB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562" t="30585" r="5543" b="27280"/>
              <a:stretch/>
            </p:blipFill>
            <p:spPr>
              <a:xfrm>
                <a:off x="17693035" y="8426721"/>
                <a:ext cx="4182619" cy="2005055"/>
              </a:xfrm>
              <a:prstGeom prst="roundRect">
                <a:avLst/>
              </a:prstGeom>
            </p:spPr>
          </p:pic>
        </p:grp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E91319FB-6524-41BC-BF17-1B3C384C31F0}"/>
                </a:ext>
              </a:extLst>
            </p:cNvPr>
            <p:cNvGrpSpPr/>
            <p:nvPr/>
          </p:nvGrpSpPr>
          <p:grpSpPr>
            <a:xfrm>
              <a:off x="15189503" y="9361936"/>
              <a:ext cx="3045354" cy="1575835"/>
              <a:chOff x="19417256" y="19707717"/>
              <a:chExt cx="3045354" cy="1575835"/>
            </a:xfrm>
          </p:grpSpPr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7B5C643B-5405-4F33-B653-F55AE76BF8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0587511" y="19707717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F91D3594-6A9A-4039-8F3B-C6B53CCD0267}"/>
                  </a:ext>
                </a:extLst>
              </p:cNvPr>
              <p:cNvSpPr txBox="1"/>
              <p:nvPr/>
            </p:nvSpPr>
            <p:spPr>
              <a:xfrm>
                <a:off x="19417256" y="19754755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AA68C856-227A-4EE0-911E-2070234A6836}"/>
                </a:ext>
              </a:extLst>
            </p:cNvPr>
            <p:cNvSpPr txBox="1"/>
            <p:nvPr/>
          </p:nvSpPr>
          <p:spPr>
            <a:xfrm>
              <a:off x="17951000" y="14059554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6.5 mm HC</a:t>
              </a:r>
            </a:p>
            <a:p>
              <a:r>
                <a:rPr lang="fr-FR" sz="2000" dirty="0"/>
                <a:t>BR-100870-165</a:t>
              </a:r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8842E351-91BF-4CFA-8415-5B63D0C72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426113" y="14164240"/>
              <a:ext cx="3461492" cy="1635979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A7DE0571-6DE5-4334-9DDB-5ACE81A5A293}"/>
                </a:ext>
              </a:extLst>
            </p:cNvPr>
            <p:cNvSpPr txBox="1"/>
            <p:nvPr/>
          </p:nvSpPr>
          <p:spPr>
            <a:xfrm>
              <a:off x="18158913" y="9316528"/>
              <a:ext cx="7136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4400" dirty="0"/>
                <a:t>x2</a:t>
              </a:r>
            </a:p>
          </p:txBody>
        </p:sp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E7E3728D-8CA5-46C1-8C80-6B8CBD5A0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818336" y="11568128"/>
              <a:ext cx="3318387" cy="1802825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80C60AC-AEAF-4408-8A9A-B02C09A666A5}"/>
                </a:ext>
              </a:extLst>
            </p:cNvPr>
            <p:cNvSpPr txBox="1"/>
            <p:nvPr/>
          </p:nvSpPr>
          <p:spPr>
            <a:xfrm>
              <a:off x="11436763" y="11399199"/>
              <a:ext cx="16342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COB-1241 </a:t>
              </a:r>
            </a:p>
          </p:txBody>
        </p: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2959A7DA-BF61-4443-ADD7-69D7E4B5B9FB}"/>
                </a:ext>
              </a:extLst>
            </p:cNvPr>
            <p:cNvGrpSpPr/>
            <p:nvPr/>
          </p:nvGrpSpPr>
          <p:grpSpPr>
            <a:xfrm>
              <a:off x="10900072" y="13659490"/>
              <a:ext cx="4394426" cy="1847945"/>
              <a:chOff x="17046099" y="7402268"/>
              <a:chExt cx="4394426" cy="1847945"/>
            </a:xfrm>
          </p:grpSpPr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DFE00348-3553-4997-8EC7-DAA88F852A09}"/>
                  </a:ext>
                </a:extLst>
              </p:cNvPr>
              <p:cNvSpPr txBox="1"/>
              <p:nvPr/>
            </p:nvSpPr>
            <p:spPr>
              <a:xfrm>
                <a:off x="18989259" y="7480427"/>
                <a:ext cx="178927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Presse étoupe</a:t>
                </a:r>
              </a:p>
              <a:p>
                <a:r>
                  <a:rPr lang="fr-FR" sz="2000" dirty="0"/>
                  <a:t>8.5 mm HC</a:t>
                </a:r>
              </a:p>
              <a:p>
                <a:r>
                  <a:rPr lang="fr-FR" sz="2000" dirty="0"/>
                  <a:t>BR-100870-185</a:t>
                </a:r>
              </a:p>
            </p:txBody>
          </p:sp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1D697B1A-2E1A-4679-B2BC-8D8F9C66F4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7046099" y="7402268"/>
                <a:ext cx="4394426" cy="1847945"/>
              </a:xfrm>
              <a:prstGeom prst="rect">
                <a:avLst/>
              </a:prstGeom>
            </p:spPr>
          </p:pic>
        </p:grp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98B012BB-6E42-4020-A609-DF3E6C4E23A8}"/>
              </a:ext>
            </a:extLst>
          </p:cNvPr>
          <p:cNvGrpSpPr/>
          <p:nvPr/>
        </p:nvGrpSpPr>
        <p:grpSpPr>
          <a:xfrm>
            <a:off x="2028826" y="13088899"/>
            <a:ext cx="13855604" cy="7364602"/>
            <a:chOff x="2257290" y="782293"/>
            <a:chExt cx="13855604" cy="7364602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2940F628-E016-4A35-A582-B74C4931D0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2770"/>
            <a:stretch/>
          </p:blipFill>
          <p:spPr>
            <a:xfrm>
              <a:off x="2257290" y="1759260"/>
              <a:ext cx="5586813" cy="5410669"/>
            </a:xfrm>
            <a:prstGeom prst="rect">
              <a:avLst/>
            </a:prstGeom>
          </p:spPr>
        </p:pic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44CD8325-6341-43B8-8FE6-700A155E4CB2}"/>
                </a:ext>
              </a:extLst>
            </p:cNvPr>
            <p:cNvSpPr txBox="1"/>
            <p:nvPr/>
          </p:nvSpPr>
          <p:spPr>
            <a:xfrm>
              <a:off x="6856683" y="980698"/>
              <a:ext cx="240912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End cap 5 x M10 </a:t>
              </a:r>
              <a:r>
                <a:rPr lang="fr-FR" sz="2000" dirty="0" err="1"/>
                <a:t>hole</a:t>
              </a:r>
              <a:endParaRPr lang="fr-FR" sz="2000" dirty="0"/>
            </a:p>
            <a:p>
              <a:r>
                <a:rPr lang="fr-FR" sz="2000" b="0" i="0" dirty="0">
                  <a:solidFill>
                    <a:srgbClr val="1D252C"/>
                  </a:solidFill>
                  <a:effectLst/>
                  <a:latin typeface="Roboto" panose="02000000000000000000" pitchFamily="2" charset="0"/>
                </a:rPr>
                <a:t>BR-102993-005</a:t>
              </a:r>
              <a:endParaRPr lang="fr-FR" sz="6000" dirty="0"/>
            </a:p>
            <a:p>
              <a:r>
                <a:rPr lang="fr-FR" sz="2000" dirty="0"/>
                <a:t>4’’</a:t>
              </a:r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2423056D-38F6-4CDD-BDFC-AF6FD947BC11}"/>
                </a:ext>
              </a:extLst>
            </p:cNvPr>
            <p:cNvSpPr/>
            <p:nvPr/>
          </p:nvSpPr>
          <p:spPr>
            <a:xfrm>
              <a:off x="2262634" y="782293"/>
              <a:ext cx="13850260" cy="736460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7DD1404E-B3EF-45EA-9E17-D97BECBFEEA6}"/>
                </a:ext>
              </a:extLst>
            </p:cNvPr>
            <p:cNvSpPr txBox="1"/>
            <p:nvPr/>
          </p:nvSpPr>
          <p:spPr>
            <a:xfrm>
              <a:off x="10175652" y="7021508"/>
              <a:ext cx="373578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Tape arrière</a:t>
              </a:r>
            </a:p>
          </p:txBody>
        </p: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F09BE875-0C06-442A-A507-A9C170EE6B14}"/>
                </a:ext>
              </a:extLst>
            </p:cNvPr>
            <p:cNvGrpSpPr/>
            <p:nvPr/>
          </p:nvGrpSpPr>
          <p:grpSpPr>
            <a:xfrm>
              <a:off x="12837546" y="2577649"/>
              <a:ext cx="3064407" cy="2134526"/>
              <a:chOff x="10900860" y="12515409"/>
              <a:chExt cx="3064407" cy="2134526"/>
            </a:xfrm>
          </p:grpSpPr>
          <p:pic>
            <p:nvPicPr>
              <p:cNvPr id="28" name="Image 27">
                <a:extLst>
                  <a:ext uri="{FF2B5EF4-FFF2-40B4-BE49-F238E27FC236}">
                    <a16:creationId xmlns:a16="http://schemas.microsoft.com/office/drawing/2014/main" id="{2CC1731D-6F39-43F8-8F7E-2E0B0223DF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27666" b="25718"/>
              <a:stretch/>
            </p:blipFill>
            <p:spPr>
              <a:xfrm flipH="1">
                <a:off x="11886753" y="12515409"/>
                <a:ext cx="2078514" cy="2134526"/>
              </a:xfrm>
              <a:prstGeom prst="rect">
                <a:avLst/>
              </a:prstGeom>
            </p:spPr>
          </p:pic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FEAD39A3-87F4-409B-A2B5-2ACBF7766546}"/>
                  </a:ext>
                </a:extLst>
              </p:cNvPr>
              <p:cNvSpPr txBox="1"/>
              <p:nvPr/>
            </p:nvSpPr>
            <p:spPr>
              <a:xfrm>
                <a:off x="10900860" y="13651951"/>
                <a:ext cx="170636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Signal Moteur </a:t>
                </a:r>
              </a:p>
              <a:p>
                <a:r>
                  <a:rPr lang="fr-FR" sz="2000" dirty="0"/>
                  <a:t>COB-1140 </a:t>
                </a:r>
              </a:p>
            </p:txBody>
          </p:sp>
        </p:grp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35A3A22E-22A6-4893-AA59-545306A67F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7181" y="3521705"/>
              <a:ext cx="3158412" cy="101566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39C64B2C-A7D7-4212-8A2A-F52C3F7E1DB4}"/>
                </a:ext>
              </a:extLst>
            </p:cNvPr>
            <p:cNvSpPr txBox="1"/>
            <p:nvPr/>
          </p:nvSpPr>
          <p:spPr>
            <a:xfrm>
              <a:off x="8367537" y="2413710"/>
              <a:ext cx="3780915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dirty="0"/>
                <a:t>Faire un trou supplémentaire en M10</a:t>
              </a:r>
            </a:p>
          </p:txBody>
        </p:sp>
      </p:grpSp>
      <p:pic>
        <p:nvPicPr>
          <p:cNvPr id="97" name="Image 96">
            <a:extLst>
              <a:ext uri="{FF2B5EF4-FFF2-40B4-BE49-F238E27FC236}">
                <a16:creationId xmlns:a16="http://schemas.microsoft.com/office/drawing/2014/main" id="{E89A8C53-4349-40E3-9C24-E0D55E1F695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770"/>
          <a:stretch/>
        </p:blipFill>
        <p:spPr>
          <a:xfrm>
            <a:off x="2949927" y="4377425"/>
            <a:ext cx="5586813" cy="5410669"/>
          </a:xfrm>
          <a:prstGeom prst="rect">
            <a:avLst/>
          </a:prstGeom>
        </p:spPr>
      </p:pic>
      <p:sp>
        <p:nvSpPr>
          <p:cNvPr id="98" name="ZoneTexte 97">
            <a:extLst>
              <a:ext uri="{FF2B5EF4-FFF2-40B4-BE49-F238E27FC236}">
                <a16:creationId xmlns:a16="http://schemas.microsoft.com/office/drawing/2014/main" id="{336690ED-4B95-4CB3-890B-31B0E3A80C92}"/>
              </a:ext>
            </a:extLst>
          </p:cNvPr>
          <p:cNvSpPr txBox="1"/>
          <p:nvPr/>
        </p:nvSpPr>
        <p:spPr>
          <a:xfrm>
            <a:off x="7549320" y="3598863"/>
            <a:ext cx="24091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5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BR-102993-005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sp>
        <p:nvSpPr>
          <p:cNvPr id="99" name="Rectangle : coins arrondis 98">
            <a:extLst>
              <a:ext uri="{FF2B5EF4-FFF2-40B4-BE49-F238E27FC236}">
                <a16:creationId xmlns:a16="http://schemas.microsoft.com/office/drawing/2014/main" id="{9455602D-C786-4B6D-AD0D-3425160CD221}"/>
              </a:ext>
            </a:extLst>
          </p:cNvPr>
          <p:cNvSpPr/>
          <p:nvPr/>
        </p:nvSpPr>
        <p:spPr>
          <a:xfrm>
            <a:off x="2744330" y="3150373"/>
            <a:ext cx="8679024" cy="736460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D0DCAC29-0EDB-4265-80D2-C6D068E4F1B0}"/>
              </a:ext>
            </a:extLst>
          </p:cNvPr>
          <p:cNvSpPr txBox="1"/>
          <p:nvPr/>
        </p:nvSpPr>
        <p:spPr>
          <a:xfrm>
            <a:off x="8504890" y="7882414"/>
            <a:ext cx="3735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Tape arrière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7397E534-90CA-4706-AF2C-5A447AF619A4}"/>
              </a:ext>
            </a:extLst>
          </p:cNvPr>
          <p:cNvSpPr txBox="1"/>
          <p:nvPr/>
        </p:nvSpPr>
        <p:spPr>
          <a:xfrm>
            <a:off x="7380018" y="21410713"/>
            <a:ext cx="1700882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b="1" dirty="0"/>
              <a:t>Version rotative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C353CF0D-FB0E-4892-BDCB-2B0A86DC3334}"/>
              </a:ext>
            </a:extLst>
          </p:cNvPr>
          <p:cNvSpPr txBox="1"/>
          <p:nvPr/>
        </p:nvSpPr>
        <p:spPr>
          <a:xfrm>
            <a:off x="12854892" y="5255319"/>
            <a:ext cx="12514708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b="1" dirty="0"/>
              <a:t>Version fixe</a:t>
            </a:r>
          </a:p>
        </p:txBody>
      </p:sp>
    </p:spTree>
    <p:extLst>
      <p:ext uri="{BB962C8B-B14F-4D97-AF65-F5344CB8AC3E}">
        <p14:creationId xmlns:p14="http://schemas.microsoft.com/office/powerpoint/2010/main" val="250134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Espace réservé de la date 1">
            <a:extLst>
              <a:ext uri="{FF2B5EF4-FFF2-40B4-BE49-F238E27FC236}">
                <a16:creationId xmlns:a16="http://schemas.microsoft.com/office/drawing/2014/main" id="{82691CB3-06BC-45C2-BCA9-DE8713B4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13761" y="39672750"/>
            <a:ext cx="7064216" cy="2278905"/>
          </a:xfrm>
        </p:spPr>
        <p:txBody>
          <a:bodyPr/>
          <a:lstStyle/>
          <a:p>
            <a:fld id="{55E6546D-BE63-DD4F-B215-3990C2EAC06E}" type="datetime1">
              <a:rPr lang="fr-FR" smtClean="0"/>
              <a:t>28/09/2026</a:t>
            </a:fld>
            <a:endParaRPr lang="fr-FR"/>
          </a:p>
        </p:txBody>
      </p:sp>
      <p:sp>
        <p:nvSpPr>
          <p:cNvPr id="279" name="Espace réservé du numéro de diapositive 2">
            <a:extLst>
              <a:ext uri="{FF2B5EF4-FFF2-40B4-BE49-F238E27FC236}">
                <a16:creationId xmlns:a16="http://schemas.microsoft.com/office/drawing/2014/main" id="{719ABE6E-D907-411D-9489-2EB5976E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697236" y="33668190"/>
            <a:ext cx="7064216" cy="2278905"/>
          </a:xfrm>
        </p:spPr>
        <p:txBody>
          <a:bodyPr/>
          <a:lstStyle/>
          <a:p>
            <a:fld id="{0F447B95-E6F3-9E41-9DD9-E80BDFDD31A6}" type="slidenum">
              <a:rPr lang="fr-FR" smtClean="0"/>
              <a:t>3</a:t>
            </a:fld>
            <a:endParaRPr lang="fr-FR"/>
          </a:p>
        </p:txBody>
      </p:sp>
      <p:grpSp>
        <p:nvGrpSpPr>
          <p:cNvPr id="280" name="Groupe 279">
            <a:extLst>
              <a:ext uri="{FF2B5EF4-FFF2-40B4-BE49-F238E27FC236}">
                <a16:creationId xmlns:a16="http://schemas.microsoft.com/office/drawing/2014/main" id="{05D04FC9-35AC-441B-A897-1986E6EC9F9A}"/>
              </a:ext>
            </a:extLst>
          </p:cNvPr>
          <p:cNvGrpSpPr/>
          <p:nvPr/>
        </p:nvGrpSpPr>
        <p:grpSpPr>
          <a:xfrm>
            <a:off x="22527402" y="28198602"/>
            <a:ext cx="4394426" cy="1847945"/>
            <a:chOff x="17046099" y="7402268"/>
            <a:chExt cx="4394426" cy="1847945"/>
          </a:xfrm>
        </p:grpSpPr>
        <p:sp>
          <p:nvSpPr>
            <p:cNvPr id="281" name="ZoneTexte 280">
              <a:extLst>
                <a:ext uri="{FF2B5EF4-FFF2-40B4-BE49-F238E27FC236}">
                  <a16:creationId xmlns:a16="http://schemas.microsoft.com/office/drawing/2014/main" id="{98EB9137-6BDC-48F9-BE78-1820659AAEA3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282" name="Image 281">
              <a:extLst>
                <a:ext uri="{FF2B5EF4-FFF2-40B4-BE49-F238E27FC236}">
                  <a16:creationId xmlns:a16="http://schemas.microsoft.com/office/drawing/2014/main" id="{B699133B-3C30-4761-9145-574803FC6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pic>
        <p:nvPicPr>
          <p:cNvPr id="283" name="Image 282">
            <a:extLst>
              <a:ext uri="{FF2B5EF4-FFF2-40B4-BE49-F238E27FC236}">
                <a16:creationId xmlns:a16="http://schemas.microsoft.com/office/drawing/2014/main" id="{F133F94C-E96B-4169-9759-57B6CB97A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2215" y="25464935"/>
            <a:ext cx="2536384" cy="2447165"/>
          </a:xfrm>
          <a:prstGeom prst="rect">
            <a:avLst/>
          </a:prstGeom>
        </p:spPr>
      </p:pic>
      <p:sp>
        <p:nvSpPr>
          <p:cNvPr id="284" name="ZoneTexte 283">
            <a:extLst>
              <a:ext uri="{FF2B5EF4-FFF2-40B4-BE49-F238E27FC236}">
                <a16:creationId xmlns:a16="http://schemas.microsoft.com/office/drawing/2014/main" id="{202FC70F-5B23-40E2-B860-D91F460A7A4B}"/>
              </a:ext>
            </a:extLst>
          </p:cNvPr>
          <p:cNvSpPr txBox="1"/>
          <p:nvPr/>
        </p:nvSpPr>
        <p:spPr>
          <a:xfrm>
            <a:off x="24672020" y="25478824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BR-100276-002</a:t>
            </a:r>
          </a:p>
          <a:p>
            <a:r>
              <a:rPr lang="fr-FR" sz="2000" dirty="0"/>
              <a:t>2’’  2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pic>
        <p:nvPicPr>
          <p:cNvPr id="285" name="Image 284">
            <a:extLst>
              <a:ext uri="{FF2B5EF4-FFF2-40B4-BE49-F238E27FC236}">
                <a16:creationId xmlns:a16="http://schemas.microsoft.com/office/drawing/2014/main" id="{F0D0F9F7-3EC5-41CC-8BFC-68E54814429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88654" y="18669432"/>
            <a:ext cx="2930873" cy="2567644"/>
          </a:xfrm>
          <a:prstGeom prst="rect">
            <a:avLst/>
          </a:prstGeom>
        </p:spPr>
      </p:pic>
      <p:sp>
        <p:nvSpPr>
          <p:cNvPr id="286" name="ZoneTexte 285">
            <a:extLst>
              <a:ext uri="{FF2B5EF4-FFF2-40B4-BE49-F238E27FC236}">
                <a16:creationId xmlns:a16="http://schemas.microsoft.com/office/drawing/2014/main" id="{5C2EB338-5177-4D65-8DA4-ADA612131822}"/>
              </a:ext>
            </a:extLst>
          </p:cNvPr>
          <p:cNvSpPr txBox="1"/>
          <p:nvPr/>
        </p:nvSpPr>
        <p:spPr>
          <a:xfrm>
            <a:off x="25105066" y="18817684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BR-100276-998</a:t>
            </a:r>
          </a:p>
          <a:p>
            <a:r>
              <a:rPr lang="fr-FR" sz="2000" dirty="0"/>
              <a:t>2’’</a:t>
            </a:r>
          </a:p>
        </p:txBody>
      </p:sp>
      <p:pic>
        <p:nvPicPr>
          <p:cNvPr id="287" name="Image 286">
            <a:extLst>
              <a:ext uri="{FF2B5EF4-FFF2-40B4-BE49-F238E27FC236}">
                <a16:creationId xmlns:a16="http://schemas.microsoft.com/office/drawing/2014/main" id="{6623777F-D7A0-4061-92B4-A0F13CF70B5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23396787" y="30710218"/>
            <a:ext cx="2749826" cy="1757060"/>
          </a:xfrm>
          <a:prstGeom prst="rect">
            <a:avLst/>
          </a:prstGeom>
        </p:spPr>
      </p:pic>
      <p:sp>
        <p:nvSpPr>
          <p:cNvPr id="288" name="ZoneTexte 287">
            <a:extLst>
              <a:ext uri="{FF2B5EF4-FFF2-40B4-BE49-F238E27FC236}">
                <a16:creationId xmlns:a16="http://schemas.microsoft.com/office/drawing/2014/main" id="{4A441CB4-BFF1-4472-999A-9705E332E49F}"/>
              </a:ext>
            </a:extLst>
          </p:cNvPr>
          <p:cNvSpPr txBox="1"/>
          <p:nvPr/>
        </p:nvSpPr>
        <p:spPr>
          <a:xfrm>
            <a:off x="23109034" y="30582774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sp>
        <p:nvSpPr>
          <p:cNvPr id="289" name="ZoneTexte 288">
            <a:extLst>
              <a:ext uri="{FF2B5EF4-FFF2-40B4-BE49-F238E27FC236}">
                <a16:creationId xmlns:a16="http://schemas.microsoft.com/office/drawing/2014/main" id="{D3AB0D57-63CC-4A9A-A52D-965D6AF78B6A}"/>
              </a:ext>
            </a:extLst>
          </p:cNvPr>
          <p:cNvSpPr txBox="1"/>
          <p:nvPr/>
        </p:nvSpPr>
        <p:spPr>
          <a:xfrm>
            <a:off x="22522461" y="32848191"/>
            <a:ext cx="33778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b="1" dirty="0"/>
              <a:t>Caisson vidéo</a:t>
            </a:r>
          </a:p>
        </p:txBody>
      </p:sp>
      <p:sp>
        <p:nvSpPr>
          <p:cNvPr id="290" name="Rectangle : coins arrondis 289">
            <a:extLst>
              <a:ext uri="{FF2B5EF4-FFF2-40B4-BE49-F238E27FC236}">
                <a16:creationId xmlns:a16="http://schemas.microsoft.com/office/drawing/2014/main" id="{A7B45092-FCBA-450A-BAA7-209D3FE4700E}"/>
              </a:ext>
            </a:extLst>
          </p:cNvPr>
          <p:cNvSpPr/>
          <p:nvPr/>
        </p:nvSpPr>
        <p:spPr>
          <a:xfrm>
            <a:off x="22104288" y="16459294"/>
            <a:ext cx="5259964" cy="17234725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1" name="Image 290">
            <a:extLst>
              <a:ext uri="{FF2B5EF4-FFF2-40B4-BE49-F238E27FC236}">
                <a16:creationId xmlns:a16="http://schemas.microsoft.com/office/drawing/2014/main" id="{76731057-DBB5-4BC9-A88A-25DAFE6DE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27402" y="21133529"/>
            <a:ext cx="2370025" cy="4198984"/>
          </a:xfrm>
          <a:prstGeom prst="rect">
            <a:avLst/>
          </a:prstGeom>
        </p:spPr>
      </p:pic>
      <p:sp>
        <p:nvSpPr>
          <p:cNvPr id="292" name="ZoneTexte 291">
            <a:extLst>
              <a:ext uri="{FF2B5EF4-FFF2-40B4-BE49-F238E27FC236}">
                <a16:creationId xmlns:a16="http://schemas.microsoft.com/office/drawing/2014/main" id="{5804CB9A-1419-4CF1-94A4-FB7E38827C86}"/>
              </a:ext>
            </a:extLst>
          </p:cNvPr>
          <p:cNvSpPr txBox="1"/>
          <p:nvPr/>
        </p:nvSpPr>
        <p:spPr>
          <a:xfrm>
            <a:off x="24936344" y="22087752"/>
            <a:ext cx="20550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BR-100230-101</a:t>
            </a:r>
          </a:p>
          <a:p>
            <a:r>
              <a:rPr lang="fr-FR" sz="2000" dirty="0"/>
              <a:t>2’’     10cm </a:t>
            </a:r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293" name="ZoneTexte 292">
            <a:extLst>
              <a:ext uri="{FF2B5EF4-FFF2-40B4-BE49-F238E27FC236}">
                <a16:creationId xmlns:a16="http://schemas.microsoft.com/office/drawing/2014/main" id="{D28B7071-C45A-46A7-BE10-6EF586220FE6}"/>
              </a:ext>
            </a:extLst>
          </p:cNvPr>
          <p:cNvSpPr txBox="1"/>
          <p:nvPr/>
        </p:nvSpPr>
        <p:spPr>
          <a:xfrm>
            <a:off x="25890243" y="32400851"/>
            <a:ext cx="17308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800" b="1" dirty="0"/>
              <a:t>x2</a:t>
            </a:r>
            <a:endParaRPr lang="fr-FR" sz="8800" b="1" dirty="0">
              <a:solidFill>
                <a:srgbClr val="7030A0"/>
              </a:solidFill>
            </a:endParaRPr>
          </a:p>
        </p:txBody>
      </p:sp>
      <p:sp>
        <p:nvSpPr>
          <p:cNvPr id="294" name="ZoneTexte 293">
            <a:extLst>
              <a:ext uri="{FF2B5EF4-FFF2-40B4-BE49-F238E27FC236}">
                <a16:creationId xmlns:a16="http://schemas.microsoft.com/office/drawing/2014/main" id="{4E755AED-8B0B-499D-84CF-B9C87E3C4A76}"/>
              </a:ext>
            </a:extLst>
          </p:cNvPr>
          <p:cNvSpPr txBox="1"/>
          <p:nvPr/>
        </p:nvSpPr>
        <p:spPr>
          <a:xfrm>
            <a:off x="24944245" y="16622826"/>
            <a:ext cx="1725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</a:t>
            </a:r>
            <a:r>
              <a:rPr lang="fr-FR" sz="2000" dirty="0" err="1"/>
              <a:t>acrylic</a:t>
            </a:r>
            <a:endParaRPr lang="fr-FR" sz="2000" dirty="0"/>
          </a:p>
          <a:p>
            <a:r>
              <a:rPr lang="fr-FR" sz="2000" dirty="0"/>
              <a:t>2’’</a:t>
            </a:r>
          </a:p>
          <a:p>
            <a:endParaRPr lang="fr-FR" sz="2000" dirty="0"/>
          </a:p>
        </p:txBody>
      </p:sp>
      <p:pic>
        <p:nvPicPr>
          <p:cNvPr id="295" name="Image 294">
            <a:extLst>
              <a:ext uri="{FF2B5EF4-FFF2-40B4-BE49-F238E27FC236}">
                <a16:creationId xmlns:a16="http://schemas.microsoft.com/office/drawing/2014/main" id="{989BBC97-98E6-4D26-BD37-FDA652A3BA9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9386" t="6027" r="7239" b="6267"/>
          <a:stretch/>
        </p:blipFill>
        <p:spPr>
          <a:xfrm>
            <a:off x="22584326" y="16621402"/>
            <a:ext cx="2277202" cy="2044008"/>
          </a:xfrm>
          <a:prstGeom prst="rect">
            <a:avLst/>
          </a:prstGeom>
        </p:spPr>
      </p:pic>
      <p:grpSp>
        <p:nvGrpSpPr>
          <p:cNvPr id="296" name="Groupe 295">
            <a:extLst>
              <a:ext uri="{FF2B5EF4-FFF2-40B4-BE49-F238E27FC236}">
                <a16:creationId xmlns:a16="http://schemas.microsoft.com/office/drawing/2014/main" id="{CA05B49B-ED3B-4F40-97F1-A80F681FDD07}"/>
              </a:ext>
            </a:extLst>
          </p:cNvPr>
          <p:cNvGrpSpPr/>
          <p:nvPr/>
        </p:nvGrpSpPr>
        <p:grpSpPr>
          <a:xfrm>
            <a:off x="7983448" y="25581962"/>
            <a:ext cx="10294563" cy="7637324"/>
            <a:chOff x="21160641" y="23043843"/>
            <a:chExt cx="10294563" cy="7637324"/>
          </a:xfrm>
        </p:grpSpPr>
        <p:sp>
          <p:nvSpPr>
            <p:cNvPr id="297" name="Rectangle : coins arrondis 296">
              <a:extLst>
                <a:ext uri="{FF2B5EF4-FFF2-40B4-BE49-F238E27FC236}">
                  <a16:creationId xmlns:a16="http://schemas.microsoft.com/office/drawing/2014/main" id="{71A64A56-DC0D-472A-88F6-91EB9A7FF2CD}"/>
                </a:ext>
              </a:extLst>
            </p:cNvPr>
            <p:cNvSpPr/>
            <p:nvPr/>
          </p:nvSpPr>
          <p:spPr>
            <a:xfrm>
              <a:off x="21160641" y="23043843"/>
              <a:ext cx="10294563" cy="763647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8" name="ZoneTexte 297">
              <a:extLst>
                <a:ext uri="{FF2B5EF4-FFF2-40B4-BE49-F238E27FC236}">
                  <a16:creationId xmlns:a16="http://schemas.microsoft.com/office/drawing/2014/main" id="{F786DB99-38EE-4E83-805B-BA32C25D5AD9}"/>
                </a:ext>
              </a:extLst>
            </p:cNvPr>
            <p:cNvSpPr txBox="1"/>
            <p:nvPr/>
          </p:nvSpPr>
          <p:spPr>
            <a:xfrm>
              <a:off x="21989132" y="29911726"/>
              <a:ext cx="43944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Caisson moteur</a:t>
              </a:r>
            </a:p>
          </p:txBody>
        </p:sp>
      </p:grpSp>
      <p:pic>
        <p:nvPicPr>
          <p:cNvPr id="299" name="Image 298">
            <a:extLst>
              <a:ext uri="{FF2B5EF4-FFF2-40B4-BE49-F238E27FC236}">
                <a16:creationId xmlns:a16="http://schemas.microsoft.com/office/drawing/2014/main" id="{128A09D1-A03E-47BC-BDF4-5F417E06831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833" t="31201" r="17271" b="27332"/>
          <a:stretch/>
        </p:blipFill>
        <p:spPr>
          <a:xfrm>
            <a:off x="9440513" y="25977570"/>
            <a:ext cx="2749826" cy="1757060"/>
          </a:xfrm>
          <a:prstGeom prst="rect">
            <a:avLst/>
          </a:prstGeom>
        </p:spPr>
      </p:pic>
      <p:sp>
        <p:nvSpPr>
          <p:cNvPr id="300" name="ZoneTexte 299">
            <a:extLst>
              <a:ext uri="{FF2B5EF4-FFF2-40B4-BE49-F238E27FC236}">
                <a16:creationId xmlns:a16="http://schemas.microsoft.com/office/drawing/2014/main" id="{DB75FD4E-A47E-40C4-A74C-05CB30091B41}"/>
              </a:ext>
            </a:extLst>
          </p:cNvPr>
          <p:cNvSpPr txBox="1"/>
          <p:nvPr/>
        </p:nvSpPr>
        <p:spPr>
          <a:xfrm>
            <a:off x="9021488" y="25972559"/>
            <a:ext cx="207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Vent</a:t>
            </a:r>
          </a:p>
          <a:p>
            <a:r>
              <a:rPr lang="fr-FR" sz="2000" dirty="0"/>
              <a:t>BR-100783</a:t>
            </a:r>
          </a:p>
        </p:txBody>
      </p:sp>
      <p:grpSp>
        <p:nvGrpSpPr>
          <p:cNvPr id="301" name="Groupe 300">
            <a:extLst>
              <a:ext uri="{FF2B5EF4-FFF2-40B4-BE49-F238E27FC236}">
                <a16:creationId xmlns:a16="http://schemas.microsoft.com/office/drawing/2014/main" id="{9B102280-BCDF-451F-9202-89610117EE39}"/>
              </a:ext>
            </a:extLst>
          </p:cNvPr>
          <p:cNvGrpSpPr/>
          <p:nvPr/>
        </p:nvGrpSpPr>
        <p:grpSpPr>
          <a:xfrm>
            <a:off x="13343635" y="28396204"/>
            <a:ext cx="4710111" cy="2070943"/>
            <a:chOff x="17165543" y="8360833"/>
            <a:chExt cx="4710111" cy="2070943"/>
          </a:xfrm>
        </p:grpSpPr>
        <p:sp>
          <p:nvSpPr>
            <p:cNvPr id="302" name="ZoneTexte 301">
              <a:extLst>
                <a:ext uri="{FF2B5EF4-FFF2-40B4-BE49-F238E27FC236}">
                  <a16:creationId xmlns:a16="http://schemas.microsoft.com/office/drawing/2014/main" id="{FF89A8CF-6F29-4F11-AE25-CE2E7559D6CC}"/>
                </a:ext>
              </a:extLst>
            </p:cNvPr>
            <p:cNvSpPr txBox="1"/>
            <p:nvPr/>
          </p:nvSpPr>
          <p:spPr>
            <a:xfrm>
              <a:off x="17165543" y="8360833"/>
              <a:ext cx="149156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Alim moteur</a:t>
              </a:r>
            </a:p>
            <a:p>
              <a:r>
                <a:rPr lang="fr-FR" sz="2000" dirty="0"/>
                <a:t>COB-1231 </a:t>
              </a:r>
            </a:p>
          </p:txBody>
        </p:sp>
        <p:pic>
          <p:nvPicPr>
            <p:cNvPr id="303" name="Image 302">
              <a:extLst>
                <a:ext uri="{FF2B5EF4-FFF2-40B4-BE49-F238E27FC236}">
                  <a16:creationId xmlns:a16="http://schemas.microsoft.com/office/drawing/2014/main" id="{C8D684B0-A03C-401F-987A-887C4DD5C7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17693035" y="8426721"/>
              <a:ext cx="4182619" cy="2005055"/>
            </a:xfrm>
            <a:prstGeom prst="roundRect">
              <a:avLst/>
            </a:prstGeom>
          </p:spPr>
        </p:pic>
      </p:grpSp>
      <p:grpSp>
        <p:nvGrpSpPr>
          <p:cNvPr id="304" name="Groupe 303">
            <a:extLst>
              <a:ext uri="{FF2B5EF4-FFF2-40B4-BE49-F238E27FC236}">
                <a16:creationId xmlns:a16="http://schemas.microsoft.com/office/drawing/2014/main" id="{21737D3A-685D-4BE6-946A-6B5A05CE00C8}"/>
              </a:ext>
            </a:extLst>
          </p:cNvPr>
          <p:cNvGrpSpPr/>
          <p:nvPr/>
        </p:nvGrpSpPr>
        <p:grpSpPr>
          <a:xfrm>
            <a:off x="12914956" y="26149389"/>
            <a:ext cx="3045354" cy="1575835"/>
            <a:chOff x="19417256" y="19707717"/>
            <a:chExt cx="3045354" cy="1575835"/>
          </a:xfrm>
        </p:grpSpPr>
        <p:pic>
          <p:nvPicPr>
            <p:cNvPr id="305" name="Image 304">
              <a:extLst>
                <a:ext uri="{FF2B5EF4-FFF2-40B4-BE49-F238E27FC236}">
                  <a16:creationId xmlns:a16="http://schemas.microsoft.com/office/drawing/2014/main" id="{7CF8CF21-4BFB-4C43-9400-3C5AA4F980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9838"/>
            <a:stretch/>
          </p:blipFill>
          <p:spPr>
            <a:xfrm>
              <a:off x="20587511" y="19707717"/>
              <a:ext cx="1875099" cy="1575835"/>
            </a:xfrm>
            <a:prstGeom prst="rect">
              <a:avLst/>
            </a:prstGeom>
          </p:spPr>
        </p:pic>
        <p:sp>
          <p:nvSpPr>
            <p:cNvPr id="306" name="ZoneTexte 305">
              <a:extLst>
                <a:ext uri="{FF2B5EF4-FFF2-40B4-BE49-F238E27FC236}">
                  <a16:creationId xmlns:a16="http://schemas.microsoft.com/office/drawing/2014/main" id="{0B1D1D49-E4D7-46E3-838A-2FB567A946FB}"/>
                </a:ext>
              </a:extLst>
            </p:cNvPr>
            <p:cNvSpPr txBox="1"/>
            <p:nvPr/>
          </p:nvSpPr>
          <p:spPr>
            <a:xfrm>
              <a:off x="19417256" y="19754755"/>
              <a:ext cx="144949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 err="1"/>
                <a:t>Dummy</a:t>
              </a:r>
              <a:r>
                <a:rPr lang="fr-FR" sz="2000" dirty="0"/>
                <a:t> Cap</a:t>
              </a:r>
            </a:p>
            <a:p>
              <a:r>
                <a:rPr lang="fr-FR" sz="2000" dirty="0"/>
                <a:t>COB-1003</a:t>
              </a:r>
            </a:p>
          </p:txBody>
        </p:sp>
      </p:grpSp>
      <p:sp>
        <p:nvSpPr>
          <p:cNvPr id="307" name="ZoneTexte 306">
            <a:extLst>
              <a:ext uri="{FF2B5EF4-FFF2-40B4-BE49-F238E27FC236}">
                <a16:creationId xmlns:a16="http://schemas.microsoft.com/office/drawing/2014/main" id="{52F7F14C-108B-42FA-9C24-EF8D76A15460}"/>
              </a:ext>
            </a:extLst>
          </p:cNvPr>
          <p:cNvSpPr txBox="1"/>
          <p:nvPr/>
        </p:nvSpPr>
        <p:spPr>
          <a:xfrm>
            <a:off x="15676453" y="30847007"/>
            <a:ext cx="17892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Presse étoupe</a:t>
            </a:r>
          </a:p>
          <a:p>
            <a:r>
              <a:rPr lang="fr-FR" sz="2000" dirty="0"/>
              <a:t>6.5 mm HC</a:t>
            </a:r>
          </a:p>
          <a:p>
            <a:r>
              <a:rPr lang="fr-FR" sz="2000" dirty="0"/>
              <a:t>BR-100870-165</a:t>
            </a:r>
          </a:p>
        </p:txBody>
      </p:sp>
      <p:pic>
        <p:nvPicPr>
          <p:cNvPr id="308" name="Image 307">
            <a:extLst>
              <a:ext uri="{FF2B5EF4-FFF2-40B4-BE49-F238E27FC236}">
                <a16:creationId xmlns:a16="http://schemas.microsoft.com/office/drawing/2014/main" id="{4AC23009-B336-4BFD-B633-9CFEE22A0A07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151566" y="30951693"/>
            <a:ext cx="3461492" cy="1635979"/>
          </a:xfrm>
          <a:prstGeom prst="rect">
            <a:avLst/>
          </a:prstGeom>
        </p:spPr>
      </p:pic>
      <p:sp>
        <p:nvSpPr>
          <p:cNvPr id="309" name="ZoneTexte 308">
            <a:extLst>
              <a:ext uri="{FF2B5EF4-FFF2-40B4-BE49-F238E27FC236}">
                <a16:creationId xmlns:a16="http://schemas.microsoft.com/office/drawing/2014/main" id="{8D365FBE-432F-4F90-AB0D-3267A9050555}"/>
              </a:ext>
            </a:extLst>
          </p:cNvPr>
          <p:cNvSpPr txBox="1"/>
          <p:nvPr/>
        </p:nvSpPr>
        <p:spPr>
          <a:xfrm>
            <a:off x="15884366" y="26103981"/>
            <a:ext cx="713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/>
              <a:t>x2</a:t>
            </a:r>
          </a:p>
        </p:txBody>
      </p:sp>
      <p:pic>
        <p:nvPicPr>
          <p:cNvPr id="310" name="Image 309">
            <a:extLst>
              <a:ext uri="{FF2B5EF4-FFF2-40B4-BE49-F238E27FC236}">
                <a16:creationId xmlns:a16="http://schemas.microsoft.com/office/drawing/2014/main" id="{24DD72D9-A908-4FE1-8DC5-73EF6D46EB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43789" y="28355581"/>
            <a:ext cx="3318387" cy="1802825"/>
          </a:xfrm>
          <a:prstGeom prst="rect">
            <a:avLst/>
          </a:prstGeom>
        </p:spPr>
      </p:pic>
      <p:sp>
        <p:nvSpPr>
          <p:cNvPr id="311" name="ZoneTexte 310">
            <a:extLst>
              <a:ext uri="{FF2B5EF4-FFF2-40B4-BE49-F238E27FC236}">
                <a16:creationId xmlns:a16="http://schemas.microsoft.com/office/drawing/2014/main" id="{49D37D98-C013-4864-97B9-C8FEAB2EDFDE}"/>
              </a:ext>
            </a:extLst>
          </p:cNvPr>
          <p:cNvSpPr txBox="1"/>
          <p:nvPr/>
        </p:nvSpPr>
        <p:spPr>
          <a:xfrm>
            <a:off x="9162216" y="28186652"/>
            <a:ext cx="1634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Signal moteur</a:t>
            </a:r>
          </a:p>
          <a:p>
            <a:r>
              <a:rPr lang="fr-FR" sz="2000" dirty="0"/>
              <a:t>COB-1241 </a:t>
            </a:r>
          </a:p>
        </p:txBody>
      </p:sp>
      <p:grpSp>
        <p:nvGrpSpPr>
          <p:cNvPr id="312" name="Groupe 311">
            <a:extLst>
              <a:ext uri="{FF2B5EF4-FFF2-40B4-BE49-F238E27FC236}">
                <a16:creationId xmlns:a16="http://schemas.microsoft.com/office/drawing/2014/main" id="{C7AE6EED-D9F5-45DE-99C2-AB701C5DEC03}"/>
              </a:ext>
            </a:extLst>
          </p:cNvPr>
          <p:cNvGrpSpPr/>
          <p:nvPr/>
        </p:nvGrpSpPr>
        <p:grpSpPr>
          <a:xfrm>
            <a:off x="8625525" y="30446943"/>
            <a:ext cx="4394426" cy="1847945"/>
            <a:chOff x="17046099" y="7402268"/>
            <a:chExt cx="4394426" cy="1847945"/>
          </a:xfrm>
        </p:grpSpPr>
        <p:sp>
          <p:nvSpPr>
            <p:cNvPr id="313" name="ZoneTexte 312">
              <a:extLst>
                <a:ext uri="{FF2B5EF4-FFF2-40B4-BE49-F238E27FC236}">
                  <a16:creationId xmlns:a16="http://schemas.microsoft.com/office/drawing/2014/main" id="{0CA2F220-A2C3-4E5A-AE99-96FFEB034BB2}"/>
                </a:ext>
              </a:extLst>
            </p:cNvPr>
            <p:cNvSpPr txBox="1"/>
            <p:nvPr/>
          </p:nvSpPr>
          <p:spPr>
            <a:xfrm>
              <a:off x="18989259" y="7480427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8.5 mm HC</a:t>
              </a:r>
            </a:p>
            <a:p>
              <a:r>
                <a:rPr lang="fr-FR" sz="2000" dirty="0"/>
                <a:t>BR-100870-185</a:t>
              </a:r>
            </a:p>
          </p:txBody>
        </p:sp>
        <p:pic>
          <p:nvPicPr>
            <p:cNvPr id="314" name="Image 313">
              <a:extLst>
                <a:ext uri="{FF2B5EF4-FFF2-40B4-BE49-F238E27FC236}">
                  <a16:creationId xmlns:a16="http://schemas.microsoft.com/office/drawing/2014/main" id="{6F4E3C2B-07B3-463D-8510-3ADC610D8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46099" y="7402268"/>
              <a:ext cx="4394426" cy="1847945"/>
            </a:xfrm>
            <a:prstGeom prst="rect">
              <a:avLst/>
            </a:prstGeom>
          </p:spPr>
        </p:pic>
      </p:grpSp>
      <p:grpSp>
        <p:nvGrpSpPr>
          <p:cNvPr id="315" name="Groupe 314">
            <a:extLst>
              <a:ext uri="{FF2B5EF4-FFF2-40B4-BE49-F238E27FC236}">
                <a16:creationId xmlns:a16="http://schemas.microsoft.com/office/drawing/2014/main" id="{4DEE2FB7-AFCA-4CBE-901F-27BF2504A273}"/>
              </a:ext>
            </a:extLst>
          </p:cNvPr>
          <p:cNvGrpSpPr/>
          <p:nvPr/>
        </p:nvGrpSpPr>
        <p:grpSpPr>
          <a:xfrm>
            <a:off x="4574760" y="16702474"/>
            <a:ext cx="16063284" cy="7364602"/>
            <a:chOff x="4303584" y="5409083"/>
            <a:chExt cx="16063284" cy="7364602"/>
          </a:xfrm>
        </p:grpSpPr>
        <p:grpSp>
          <p:nvGrpSpPr>
            <p:cNvPr id="316" name="Groupe 315">
              <a:extLst>
                <a:ext uri="{FF2B5EF4-FFF2-40B4-BE49-F238E27FC236}">
                  <a16:creationId xmlns:a16="http://schemas.microsoft.com/office/drawing/2014/main" id="{FA426085-F4C6-4303-91B0-546D3D579EAE}"/>
                </a:ext>
              </a:extLst>
            </p:cNvPr>
            <p:cNvGrpSpPr/>
            <p:nvPr/>
          </p:nvGrpSpPr>
          <p:grpSpPr>
            <a:xfrm>
              <a:off x="4303584" y="5409083"/>
              <a:ext cx="15349633" cy="7364602"/>
              <a:chOff x="164687" y="7914723"/>
              <a:chExt cx="15349633" cy="7364602"/>
            </a:xfrm>
          </p:grpSpPr>
          <p:grpSp>
            <p:nvGrpSpPr>
              <p:cNvPr id="318" name="Groupe 317">
                <a:extLst>
                  <a:ext uri="{FF2B5EF4-FFF2-40B4-BE49-F238E27FC236}">
                    <a16:creationId xmlns:a16="http://schemas.microsoft.com/office/drawing/2014/main" id="{BB401B82-3846-4A81-8680-2E28A01A1FE7}"/>
                  </a:ext>
                </a:extLst>
              </p:cNvPr>
              <p:cNvGrpSpPr/>
              <p:nvPr/>
            </p:nvGrpSpPr>
            <p:grpSpPr>
              <a:xfrm>
                <a:off x="12514455" y="9880459"/>
                <a:ext cx="2715709" cy="3779225"/>
                <a:chOff x="10564913" y="7385135"/>
                <a:chExt cx="2715709" cy="3779225"/>
              </a:xfrm>
            </p:grpSpPr>
            <p:grpSp>
              <p:nvGrpSpPr>
                <p:cNvPr id="332" name="Groupe 331">
                  <a:extLst>
                    <a:ext uri="{FF2B5EF4-FFF2-40B4-BE49-F238E27FC236}">
                      <a16:creationId xmlns:a16="http://schemas.microsoft.com/office/drawing/2014/main" id="{256C6B97-F022-4036-BA68-12EC1C0DD004}"/>
                    </a:ext>
                  </a:extLst>
                </p:cNvPr>
                <p:cNvGrpSpPr/>
                <p:nvPr/>
              </p:nvGrpSpPr>
              <p:grpSpPr>
                <a:xfrm>
                  <a:off x="10643864" y="9320646"/>
                  <a:ext cx="2636758" cy="1843714"/>
                  <a:chOff x="19680004" y="6714747"/>
                  <a:chExt cx="2636758" cy="1843714"/>
                </a:xfrm>
              </p:grpSpPr>
              <p:pic>
                <p:nvPicPr>
                  <p:cNvPr id="336" name="Image 335">
                    <a:extLst>
                      <a:ext uri="{FF2B5EF4-FFF2-40B4-BE49-F238E27FC236}">
                        <a16:creationId xmlns:a16="http://schemas.microsoft.com/office/drawing/2014/main" id="{746C8FAF-4C58-42E7-A98C-9593BEBBE0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9680004" y="6714747"/>
                    <a:ext cx="1597306" cy="1527858"/>
                  </a:xfrm>
                  <a:prstGeom prst="rect">
                    <a:avLst/>
                  </a:prstGeom>
                </p:spPr>
              </p:pic>
              <p:sp>
                <p:nvSpPr>
                  <p:cNvPr id="337" name="ZoneTexte 336">
                    <a:extLst>
                      <a:ext uri="{FF2B5EF4-FFF2-40B4-BE49-F238E27FC236}">
                        <a16:creationId xmlns:a16="http://schemas.microsoft.com/office/drawing/2014/main" id="{054E5E16-9F6B-46B5-9F26-BF4E6B60DB60}"/>
                      </a:ext>
                    </a:extLst>
                  </p:cNvPr>
                  <p:cNvSpPr txBox="1"/>
                  <p:nvPr/>
                </p:nvSpPr>
                <p:spPr>
                  <a:xfrm>
                    <a:off x="20635468" y="7850575"/>
                    <a:ext cx="1681294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000" dirty="0" err="1"/>
                      <a:t>Locking</a:t>
                    </a:r>
                    <a:r>
                      <a:rPr lang="fr-FR" sz="2000" dirty="0"/>
                      <a:t> sleeve</a:t>
                    </a:r>
                  </a:p>
                  <a:p>
                    <a:r>
                      <a:rPr lang="fr-FR" sz="2000" dirty="0"/>
                      <a:t>COB-1001 </a:t>
                    </a:r>
                  </a:p>
                </p:txBody>
              </p:sp>
            </p:grpSp>
            <p:grpSp>
              <p:nvGrpSpPr>
                <p:cNvPr id="333" name="Groupe 332">
                  <a:extLst>
                    <a:ext uri="{FF2B5EF4-FFF2-40B4-BE49-F238E27FC236}">
                      <a16:creationId xmlns:a16="http://schemas.microsoft.com/office/drawing/2014/main" id="{E3F7529D-1ACC-4ED4-B319-C0D690E35942}"/>
                    </a:ext>
                  </a:extLst>
                </p:cNvPr>
                <p:cNvGrpSpPr/>
                <p:nvPr/>
              </p:nvGrpSpPr>
              <p:grpSpPr>
                <a:xfrm>
                  <a:off x="10564913" y="7385135"/>
                  <a:ext cx="2370500" cy="1667768"/>
                  <a:chOff x="13238576" y="7026154"/>
                  <a:chExt cx="2370500" cy="1667768"/>
                </a:xfrm>
              </p:grpSpPr>
              <p:pic>
                <p:nvPicPr>
                  <p:cNvPr id="334" name="Image 333">
                    <a:extLst>
                      <a:ext uri="{FF2B5EF4-FFF2-40B4-BE49-F238E27FC236}">
                        <a16:creationId xmlns:a16="http://schemas.microsoft.com/office/drawing/2014/main" id="{05BD7DBE-B2FA-4C4E-9E3C-4C7491FB3E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3238576" y="7026154"/>
                    <a:ext cx="1736203" cy="1383175"/>
                  </a:xfrm>
                  <a:prstGeom prst="rect">
                    <a:avLst/>
                  </a:prstGeom>
                </p:spPr>
              </p:pic>
              <p:sp>
                <p:nvSpPr>
                  <p:cNvPr id="335" name="ZoneTexte 334">
                    <a:extLst>
                      <a:ext uri="{FF2B5EF4-FFF2-40B4-BE49-F238E27FC236}">
                        <a16:creationId xmlns:a16="http://schemas.microsoft.com/office/drawing/2014/main" id="{836D8359-EB80-48DF-BBBF-7A2BAACBAFA5}"/>
                      </a:ext>
                    </a:extLst>
                  </p:cNvPr>
                  <p:cNvSpPr txBox="1"/>
                  <p:nvPr/>
                </p:nvSpPr>
                <p:spPr>
                  <a:xfrm>
                    <a:off x="14106677" y="7986036"/>
                    <a:ext cx="1502399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2000" dirty="0" err="1"/>
                      <a:t>Dummy</a:t>
                    </a:r>
                    <a:r>
                      <a:rPr lang="fr-FR" sz="2000" dirty="0"/>
                      <a:t> Plug</a:t>
                    </a:r>
                  </a:p>
                  <a:p>
                    <a:r>
                      <a:rPr lang="fr-FR" sz="2000" dirty="0"/>
                      <a:t>COB-1002 </a:t>
                    </a:r>
                  </a:p>
                </p:txBody>
              </p:sp>
            </p:grpSp>
          </p:grpSp>
          <p:sp>
            <p:nvSpPr>
              <p:cNvPr id="319" name="Rectangle : coins arrondis 318">
                <a:extLst>
                  <a:ext uri="{FF2B5EF4-FFF2-40B4-BE49-F238E27FC236}">
                    <a16:creationId xmlns:a16="http://schemas.microsoft.com/office/drawing/2014/main" id="{AEA4DACD-8BEB-4A4F-A0BA-FB83FC7DEC06}"/>
                  </a:ext>
                </a:extLst>
              </p:cNvPr>
              <p:cNvSpPr/>
              <p:nvPr/>
            </p:nvSpPr>
            <p:spPr>
              <a:xfrm>
                <a:off x="164687" y="7914723"/>
                <a:ext cx="15349633" cy="7364602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grpSp>
            <p:nvGrpSpPr>
              <p:cNvPr id="320" name="Groupe 319">
                <a:extLst>
                  <a:ext uri="{FF2B5EF4-FFF2-40B4-BE49-F238E27FC236}">
                    <a16:creationId xmlns:a16="http://schemas.microsoft.com/office/drawing/2014/main" id="{D41149A8-A270-4B72-9A9F-48AD15B0B886}"/>
                  </a:ext>
                </a:extLst>
              </p:cNvPr>
              <p:cNvGrpSpPr/>
              <p:nvPr/>
            </p:nvGrpSpPr>
            <p:grpSpPr>
              <a:xfrm>
                <a:off x="8012307" y="8170430"/>
                <a:ext cx="2215729" cy="2488469"/>
                <a:chOff x="10147986" y="7295487"/>
                <a:chExt cx="2215729" cy="2488469"/>
              </a:xfrm>
            </p:grpSpPr>
            <p:pic>
              <p:nvPicPr>
                <p:cNvPr id="330" name="Image 329">
                  <a:extLst>
                    <a:ext uri="{FF2B5EF4-FFF2-40B4-BE49-F238E27FC236}">
                      <a16:creationId xmlns:a16="http://schemas.microsoft.com/office/drawing/2014/main" id="{6B8E65E1-3935-4043-BFCF-49958FF7CC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/>
                <a:srcRect l="27666" b="25718"/>
                <a:stretch/>
              </p:blipFill>
              <p:spPr>
                <a:xfrm flipH="1">
                  <a:off x="10147986" y="7649430"/>
                  <a:ext cx="2078514" cy="2134526"/>
                </a:xfrm>
                <a:prstGeom prst="rect">
                  <a:avLst/>
                </a:prstGeom>
              </p:spPr>
            </p:pic>
            <p:sp>
              <p:nvSpPr>
                <p:cNvPr id="331" name="ZoneTexte 330">
                  <a:extLst>
                    <a:ext uri="{FF2B5EF4-FFF2-40B4-BE49-F238E27FC236}">
                      <a16:creationId xmlns:a16="http://schemas.microsoft.com/office/drawing/2014/main" id="{E5C45F86-8864-4E90-BD15-C55776CF8775}"/>
                    </a:ext>
                  </a:extLst>
                </p:cNvPr>
                <p:cNvSpPr txBox="1"/>
                <p:nvPr/>
              </p:nvSpPr>
              <p:spPr>
                <a:xfrm>
                  <a:off x="10715059" y="7295487"/>
                  <a:ext cx="1648656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dirty="0"/>
                    <a:t>Signal Moteur</a:t>
                  </a:r>
                </a:p>
                <a:p>
                  <a:r>
                    <a:rPr lang="fr-FR" sz="2000" dirty="0"/>
                    <a:t> COB-1140 </a:t>
                  </a:r>
                </a:p>
              </p:txBody>
            </p:sp>
          </p:grpSp>
          <p:sp>
            <p:nvSpPr>
              <p:cNvPr id="321" name="ZoneTexte 320">
                <a:extLst>
                  <a:ext uri="{FF2B5EF4-FFF2-40B4-BE49-F238E27FC236}">
                    <a16:creationId xmlns:a16="http://schemas.microsoft.com/office/drawing/2014/main" id="{C7AA3C5D-C172-4CEF-9E9B-CEA9D1B37531}"/>
                  </a:ext>
                </a:extLst>
              </p:cNvPr>
              <p:cNvSpPr txBox="1"/>
              <p:nvPr/>
            </p:nvSpPr>
            <p:spPr>
              <a:xfrm>
                <a:off x="1803826" y="8414738"/>
                <a:ext cx="253896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End cap 10 x M10 </a:t>
                </a:r>
                <a:r>
                  <a:rPr lang="fr-FR" sz="2000" dirty="0" err="1"/>
                  <a:t>hole</a:t>
                </a:r>
                <a:endParaRPr lang="fr-FR" sz="2000" dirty="0"/>
              </a:p>
              <a:p>
                <a:r>
                  <a:rPr lang="fr-FR" sz="2000" b="0" i="0" dirty="0">
                    <a:solidFill>
                      <a:srgbClr val="1D252C"/>
                    </a:solidFill>
                    <a:effectLst/>
                    <a:latin typeface="Roboto" panose="02000000000000000000" pitchFamily="2" charset="0"/>
                  </a:rPr>
                  <a:t>BR-102993-002</a:t>
                </a:r>
                <a:endParaRPr lang="fr-FR" sz="6000" dirty="0"/>
              </a:p>
              <a:p>
                <a:r>
                  <a:rPr lang="fr-FR" sz="2000" dirty="0"/>
                  <a:t>4’’</a:t>
                </a:r>
              </a:p>
            </p:txBody>
          </p:sp>
          <p:pic>
            <p:nvPicPr>
              <p:cNvPr id="322" name="Image 321">
                <a:extLst>
                  <a:ext uri="{FF2B5EF4-FFF2-40B4-BE49-F238E27FC236}">
                    <a16:creationId xmlns:a16="http://schemas.microsoft.com/office/drawing/2014/main" id="{959E67EB-4BEC-491E-A55E-896306C887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4295" y="9453213"/>
                <a:ext cx="5552576" cy="5083851"/>
              </a:xfrm>
              <a:prstGeom prst="rect">
                <a:avLst/>
              </a:prstGeom>
            </p:spPr>
          </p:pic>
          <p:sp>
            <p:nvSpPr>
              <p:cNvPr id="323" name="ZoneTexte 322">
                <a:extLst>
                  <a:ext uri="{FF2B5EF4-FFF2-40B4-BE49-F238E27FC236}">
                    <a16:creationId xmlns:a16="http://schemas.microsoft.com/office/drawing/2014/main" id="{97953526-FAA9-4BFA-834A-0BD967FB4B10}"/>
                  </a:ext>
                </a:extLst>
              </p:cNvPr>
              <p:cNvSpPr txBox="1"/>
              <p:nvPr/>
            </p:nvSpPr>
            <p:spPr>
              <a:xfrm>
                <a:off x="9940395" y="13545337"/>
                <a:ext cx="1180623" cy="1357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x2</a:t>
                </a:r>
                <a:endParaRPr lang="fr-FR" b="1" dirty="0">
                  <a:solidFill>
                    <a:srgbClr val="7030A0"/>
                  </a:solidFill>
                </a:endParaRPr>
              </a:p>
            </p:txBody>
          </p:sp>
          <p:grpSp>
            <p:nvGrpSpPr>
              <p:cNvPr id="324" name="Groupe 323">
                <a:extLst>
                  <a:ext uri="{FF2B5EF4-FFF2-40B4-BE49-F238E27FC236}">
                    <a16:creationId xmlns:a16="http://schemas.microsoft.com/office/drawing/2014/main" id="{C444A892-2DC0-4AB5-97E2-720C9671D3AC}"/>
                  </a:ext>
                </a:extLst>
              </p:cNvPr>
              <p:cNvGrpSpPr/>
              <p:nvPr/>
            </p:nvGrpSpPr>
            <p:grpSpPr>
              <a:xfrm>
                <a:off x="5768068" y="13208744"/>
                <a:ext cx="4394426" cy="1847945"/>
                <a:chOff x="17046099" y="7402268"/>
                <a:chExt cx="4394426" cy="1847945"/>
              </a:xfrm>
            </p:grpSpPr>
            <p:sp>
              <p:nvSpPr>
                <p:cNvPr id="328" name="ZoneTexte 327">
                  <a:extLst>
                    <a:ext uri="{FF2B5EF4-FFF2-40B4-BE49-F238E27FC236}">
                      <a16:creationId xmlns:a16="http://schemas.microsoft.com/office/drawing/2014/main" id="{450AC3AD-C57C-45B9-9422-9F82ACC26A3F}"/>
                    </a:ext>
                  </a:extLst>
                </p:cNvPr>
                <p:cNvSpPr txBox="1"/>
                <p:nvPr/>
              </p:nvSpPr>
              <p:spPr>
                <a:xfrm>
                  <a:off x="18989259" y="7480427"/>
                  <a:ext cx="1789272" cy="10156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2000" dirty="0"/>
                    <a:t>Presse étoupe</a:t>
                  </a:r>
                </a:p>
                <a:p>
                  <a:r>
                    <a:rPr lang="fr-FR" sz="2000" dirty="0"/>
                    <a:t>8.5 mm HC</a:t>
                  </a:r>
                </a:p>
                <a:p>
                  <a:r>
                    <a:rPr lang="fr-FR" sz="2000" dirty="0"/>
                    <a:t>BR-100870-185</a:t>
                  </a:r>
                </a:p>
              </p:txBody>
            </p:sp>
            <p:pic>
              <p:nvPicPr>
                <p:cNvPr id="329" name="Image 328">
                  <a:extLst>
                    <a:ext uri="{FF2B5EF4-FFF2-40B4-BE49-F238E27FC236}">
                      <a16:creationId xmlns:a16="http://schemas.microsoft.com/office/drawing/2014/main" id="{E172154D-67EF-423E-8EF7-EFEC4851A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17046099" y="7402268"/>
                  <a:ext cx="4394426" cy="1847945"/>
                </a:xfrm>
                <a:prstGeom prst="rect">
                  <a:avLst/>
                </a:prstGeom>
              </p:spPr>
            </p:pic>
          </p:grp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3DCFFAE1-A1E9-4D46-855F-5E07599727B4}"/>
                  </a:ext>
                </a:extLst>
              </p:cNvPr>
              <p:cNvSpPr/>
              <p:nvPr/>
            </p:nvSpPr>
            <p:spPr>
              <a:xfrm>
                <a:off x="7081234" y="11292430"/>
                <a:ext cx="3897157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err="1"/>
                  <a:t>WetLink</a:t>
                </a:r>
                <a:r>
                  <a:rPr lang="en-US" sz="2000" dirty="0"/>
                  <a:t> Penetrator Blank (No Hole)</a:t>
                </a:r>
                <a:endParaRPr lang="fr-FR" sz="2000" dirty="0"/>
              </a:p>
              <a:p>
                <a:r>
                  <a:rPr lang="fr-FR" sz="2000" dirty="0"/>
                  <a:t>BR-100434-010</a:t>
                </a:r>
              </a:p>
            </p:txBody>
          </p:sp>
          <p:pic>
            <p:nvPicPr>
              <p:cNvPr id="326" name="Image 325">
                <a:extLst>
                  <a:ext uri="{FF2B5EF4-FFF2-40B4-BE49-F238E27FC236}">
                    <a16:creationId xmlns:a16="http://schemas.microsoft.com/office/drawing/2014/main" id="{0AA650AE-4093-41E9-AA56-1AAF093D2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998777" y="11009116"/>
                <a:ext cx="3093444" cy="1790401"/>
              </a:xfrm>
              <a:prstGeom prst="rect">
                <a:avLst/>
              </a:prstGeom>
            </p:spPr>
          </p:pic>
          <p:sp>
            <p:nvSpPr>
              <p:cNvPr id="327" name="ZoneTexte 326">
                <a:extLst>
                  <a:ext uri="{FF2B5EF4-FFF2-40B4-BE49-F238E27FC236}">
                    <a16:creationId xmlns:a16="http://schemas.microsoft.com/office/drawing/2014/main" id="{4CA1865E-CD18-4E87-8391-EB16225B4895}"/>
                  </a:ext>
                </a:extLst>
              </p:cNvPr>
              <p:cNvSpPr txBox="1"/>
              <p:nvPr/>
            </p:nvSpPr>
            <p:spPr>
              <a:xfrm>
                <a:off x="9304220" y="11589696"/>
                <a:ext cx="1180623" cy="1357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x2</a:t>
                </a:r>
                <a:endParaRPr lang="fr-FR" b="1" dirty="0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317" name="ZoneTexte 316">
              <a:extLst>
                <a:ext uri="{FF2B5EF4-FFF2-40B4-BE49-F238E27FC236}">
                  <a16:creationId xmlns:a16="http://schemas.microsoft.com/office/drawing/2014/main" id="{4D549F0B-E750-4E90-9588-AAF7FD8D8808}"/>
                </a:ext>
              </a:extLst>
            </p:cNvPr>
            <p:cNvSpPr txBox="1"/>
            <p:nvPr/>
          </p:nvSpPr>
          <p:spPr>
            <a:xfrm>
              <a:off x="15972442" y="11677651"/>
              <a:ext cx="43944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400" b="1" dirty="0"/>
                <a:t>Tape arrière</a:t>
              </a:r>
            </a:p>
          </p:txBody>
        </p:sp>
      </p:grpSp>
      <p:sp>
        <p:nvSpPr>
          <p:cNvPr id="338" name="ZoneTexte 337">
            <a:extLst>
              <a:ext uri="{FF2B5EF4-FFF2-40B4-BE49-F238E27FC236}">
                <a16:creationId xmlns:a16="http://schemas.microsoft.com/office/drawing/2014/main" id="{F70624D9-CE37-49F0-908E-745533F26000}"/>
              </a:ext>
            </a:extLst>
          </p:cNvPr>
          <p:cNvSpPr txBox="1"/>
          <p:nvPr/>
        </p:nvSpPr>
        <p:spPr>
          <a:xfrm>
            <a:off x="6559091" y="33411103"/>
            <a:ext cx="1647855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b="1" dirty="0"/>
              <a:t>Stéréo Rotative</a:t>
            </a:r>
          </a:p>
        </p:txBody>
      </p:sp>
      <p:grpSp>
        <p:nvGrpSpPr>
          <p:cNvPr id="345" name="Groupe 344">
            <a:extLst>
              <a:ext uri="{FF2B5EF4-FFF2-40B4-BE49-F238E27FC236}">
                <a16:creationId xmlns:a16="http://schemas.microsoft.com/office/drawing/2014/main" id="{9E8758F8-7F5F-4CA6-A932-45C96A3771F9}"/>
              </a:ext>
            </a:extLst>
          </p:cNvPr>
          <p:cNvGrpSpPr/>
          <p:nvPr/>
        </p:nvGrpSpPr>
        <p:grpSpPr>
          <a:xfrm>
            <a:off x="12977882" y="3046920"/>
            <a:ext cx="2715709" cy="3779225"/>
            <a:chOff x="10564913" y="7385135"/>
            <a:chExt cx="2715709" cy="3779225"/>
          </a:xfrm>
        </p:grpSpPr>
        <p:grpSp>
          <p:nvGrpSpPr>
            <p:cNvPr id="346" name="Groupe 345">
              <a:extLst>
                <a:ext uri="{FF2B5EF4-FFF2-40B4-BE49-F238E27FC236}">
                  <a16:creationId xmlns:a16="http://schemas.microsoft.com/office/drawing/2014/main" id="{047ABEDE-66C6-4E47-8F56-E661C462181A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350" name="Image 349">
                <a:extLst>
                  <a:ext uri="{FF2B5EF4-FFF2-40B4-BE49-F238E27FC236}">
                    <a16:creationId xmlns:a16="http://schemas.microsoft.com/office/drawing/2014/main" id="{A92B4ACA-A920-4508-8D40-464A6C56F8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351" name="ZoneTexte 350">
                <a:extLst>
                  <a:ext uri="{FF2B5EF4-FFF2-40B4-BE49-F238E27FC236}">
                    <a16:creationId xmlns:a16="http://schemas.microsoft.com/office/drawing/2014/main" id="{AAC7EDE3-B8B1-45F8-8C85-16E12FAEE6F8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47" name="Groupe 346">
              <a:extLst>
                <a:ext uri="{FF2B5EF4-FFF2-40B4-BE49-F238E27FC236}">
                  <a16:creationId xmlns:a16="http://schemas.microsoft.com/office/drawing/2014/main" id="{04CCE3FE-7FCA-49D9-A8B4-6952C7618620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348" name="Image 347">
                <a:extLst>
                  <a:ext uri="{FF2B5EF4-FFF2-40B4-BE49-F238E27FC236}">
                    <a16:creationId xmlns:a16="http://schemas.microsoft.com/office/drawing/2014/main" id="{D5932C43-F0FE-4216-81FB-A3498922EB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349" name="ZoneTexte 348">
                <a:extLst>
                  <a:ext uri="{FF2B5EF4-FFF2-40B4-BE49-F238E27FC236}">
                    <a16:creationId xmlns:a16="http://schemas.microsoft.com/office/drawing/2014/main" id="{BDCB55A9-F96E-40A5-A8DD-F56E99E5D66F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sp>
        <p:nvSpPr>
          <p:cNvPr id="359" name="Rectangle : coins arrondis 358">
            <a:extLst>
              <a:ext uri="{FF2B5EF4-FFF2-40B4-BE49-F238E27FC236}">
                <a16:creationId xmlns:a16="http://schemas.microsoft.com/office/drawing/2014/main" id="{9E3759F8-25D5-4C5A-852C-96A6051A49EA}"/>
              </a:ext>
            </a:extLst>
          </p:cNvPr>
          <p:cNvSpPr/>
          <p:nvPr/>
        </p:nvSpPr>
        <p:spPr>
          <a:xfrm>
            <a:off x="558171" y="1017253"/>
            <a:ext cx="15402139" cy="1075966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363" name="Groupe 362">
            <a:extLst>
              <a:ext uri="{FF2B5EF4-FFF2-40B4-BE49-F238E27FC236}">
                <a16:creationId xmlns:a16="http://schemas.microsoft.com/office/drawing/2014/main" id="{D8EF1660-A2B7-4AF4-BE73-942C1E92198B}"/>
              </a:ext>
            </a:extLst>
          </p:cNvPr>
          <p:cNvGrpSpPr/>
          <p:nvPr/>
        </p:nvGrpSpPr>
        <p:grpSpPr>
          <a:xfrm>
            <a:off x="7780505" y="1425373"/>
            <a:ext cx="2215729" cy="2488469"/>
            <a:chOff x="10147986" y="7295487"/>
            <a:chExt cx="2215729" cy="2488469"/>
          </a:xfrm>
        </p:grpSpPr>
        <p:pic>
          <p:nvPicPr>
            <p:cNvPr id="364" name="Image 363">
              <a:extLst>
                <a:ext uri="{FF2B5EF4-FFF2-40B4-BE49-F238E27FC236}">
                  <a16:creationId xmlns:a16="http://schemas.microsoft.com/office/drawing/2014/main" id="{14543161-3981-4EBB-B198-47A161A6FA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365" name="ZoneTexte 364">
              <a:extLst>
                <a:ext uri="{FF2B5EF4-FFF2-40B4-BE49-F238E27FC236}">
                  <a16:creationId xmlns:a16="http://schemas.microsoft.com/office/drawing/2014/main" id="{C8FAA7A3-5770-4C83-B64E-13E404F8EB17}"/>
                </a:ext>
              </a:extLst>
            </p:cNvPr>
            <p:cNvSpPr txBox="1"/>
            <p:nvPr/>
          </p:nvSpPr>
          <p:spPr>
            <a:xfrm>
              <a:off x="10715059" y="7295487"/>
              <a:ext cx="164865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 COB-1140 </a:t>
              </a:r>
            </a:p>
          </p:txBody>
        </p:sp>
      </p:grpSp>
      <p:sp>
        <p:nvSpPr>
          <p:cNvPr id="366" name="ZoneTexte 365">
            <a:extLst>
              <a:ext uri="{FF2B5EF4-FFF2-40B4-BE49-F238E27FC236}">
                <a16:creationId xmlns:a16="http://schemas.microsoft.com/office/drawing/2014/main" id="{A034624F-9022-4B5B-9ECE-5917E9670637}"/>
              </a:ext>
            </a:extLst>
          </p:cNvPr>
          <p:cNvSpPr txBox="1"/>
          <p:nvPr/>
        </p:nvSpPr>
        <p:spPr>
          <a:xfrm>
            <a:off x="11955572" y="10534955"/>
            <a:ext cx="38971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Tape arrière</a:t>
            </a:r>
          </a:p>
        </p:txBody>
      </p:sp>
      <p:sp>
        <p:nvSpPr>
          <p:cNvPr id="367" name="ZoneTexte 366">
            <a:extLst>
              <a:ext uri="{FF2B5EF4-FFF2-40B4-BE49-F238E27FC236}">
                <a16:creationId xmlns:a16="http://schemas.microsoft.com/office/drawing/2014/main" id="{977315C3-3540-4833-886C-6C43CB0FAD4B}"/>
              </a:ext>
            </a:extLst>
          </p:cNvPr>
          <p:cNvSpPr txBox="1"/>
          <p:nvPr/>
        </p:nvSpPr>
        <p:spPr>
          <a:xfrm>
            <a:off x="2197311" y="1517268"/>
            <a:ext cx="2538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 10 x M10 </a:t>
            </a:r>
            <a:r>
              <a:rPr lang="fr-FR" sz="2000" dirty="0" err="1"/>
              <a:t>hole</a:t>
            </a:r>
            <a:endParaRPr lang="fr-FR" sz="2000" dirty="0"/>
          </a:p>
          <a:p>
            <a:r>
              <a:rPr lang="fr-FR" sz="2000" b="0" i="0" dirty="0">
                <a:solidFill>
                  <a:srgbClr val="1D252C"/>
                </a:solidFill>
                <a:effectLst/>
                <a:latin typeface="Roboto" panose="02000000000000000000" pitchFamily="2" charset="0"/>
              </a:rPr>
              <a:t>BR-102993-002</a:t>
            </a:r>
            <a:endParaRPr lang="fr-FR" sz="6000" dirty="0"/>
          </a:p>
          <a:p>
            <a:r>
              <a:rPr lang="fr-FR" sz="2000" dirty="0"/>
              <a:t>4’’</a:t>
            </a:r>
          </a:p>
        </p:txBody>
      </p:sp>
      <p:pic>
        <p:nvPicPr>
          <p:cNvPr id="368" name="Image 367">
            <a:extLst>
              <a:ext uri="{FF2B5EF4-FFF2-40B4-BE49-F238E27FC236}">
                <a16:creationId xmlns:a16="http://schemas.microsoft.com/office/drawing/2014/main" id="{D0124F0D-AEB7-46CD-8056-95A6E491964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7780" y="2555743"/>
            <a:ext cx="5552576" cy="5083851"/>
          </a:xfrm>
          <a:prstGeom prst="rect">
            <a:avLst/>
          </a:prstGeom>
        </p:spPr>
      </p:pic>
      <p:sp>
        <p:nvSpPr>
          <p:cNvPr id="369" name="ZoneTexte 368">
            <a:extLst>
              <a:ext uri="{FF2B5EF4-FFF2-40B4-BE49-F238E27FC236}">
                <a16:creationId xmlns:a16="http://schemas.microsoft.com/office/drawing/2014/main" id="{FB6231AD-E312-4CC3-AC42-55E4711B7351}"/>
              </a:ext>
            </a:extLst>
          </p:cNvPr>
          <p:cNvSpPr txBox="1"/>
          <p:nvPr/>
        </p:nvSpPr>
        <p:spPr>
          <a:xfrm>
            <a:off x="5978145" y="9322749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F9D2387A-17A9-4326-BF63-76A4326155AC}"/>
              </a:ext>
            </a:extLst>
          </p:cNvPr>
          <p:cNvSpPr/>
          <p:nvPr/>
        </p:nvSpPr>
        <p:spPr>
          <a:xfrm>
            <a:off x="7474719" y="4394960"/>
            <a:ext cx="38971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WetLink</a:t>
            </a:r>
            <a:r>
              <a:rPr lang="en-US" sz="2000" dirty="0"/>
              <a:t> Penetrator Blank (No Hole)</a:t>
            </a:r>
            <a:endParaRPr lang="fr-FR" sz="2000" dirty="0"/>
          </a:p>
          <a:p>
            <a:r>
              <a:rPr lang="fr-FR" sz="2000" dirty="0"/>
              <a:t>BR-100434-010</a:t>
            </a:r>
          </a:p>
        </p:txBody>
      </p:sp>
      <p:pic>
        <p:nvPicPr>
          <p:cNvPr id="371" name="Image 370">
            <a:extLst>
              <a:ext uri="{FF2B5EF4-FFF2-40B4-BE49-F238E27FC236}">
                <a16:creationId xmlns:a16="http://schemas.microsoft.com/office/drawing/2014/main" id="{940130C0-2F1F-45C1-BF94-D238B9B0F5C4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92262" y="4111646"/>
            <a:ext cx="3093444" cy="1790401"/>
          </a:xfrm>
          <a:prstGeom prst="rect">
            <a:avLst/>
          </a:prstGeom>
        </p:spPr>
      </p:pic>
      <p:sp>
        <p:nvSpPr>
          <p:cNvPr id="372" name="ZoneTexte 371">
            <a:extLst>
              <a:ext uri="{FF2B5EF4-FFF2-40B4-BE49-F238E27FC236}">
                <a16:creationId xmlns:a16="http://schemas.microsoft.com/office/drawing/2014/main" id="{21394230-2F0C-4C4F-9485-94BA21E71137}"/>
              </a:ext>
            </a:extLst>
          </p:cNvPr>
          <p:cNvSpPr txBox="1"/>
          <p:nvPr/>
        </p:nvSpPr>
        <p:spPr>
          <a:xfrm>
            <a:off x="9697705" y="4692226"/>
            <a:ext cx="1180623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x2</a:t>
            </a:r>
            <a:endParaRPr lang="fr-FR" b="1" dirty="0">
              <a:solidFill>
                <a:srgbClr val="7030A0"/>
              </a:solidFill>
            </a:endParaRPr>
          </a:p>
        </p:txBody>
      </p:sp>
      <p:grpSp>
        <p:nvGrpSpPr>
          <p:cNvPr id="373" name="Groupe 372">
            <a:extLst>
              <a:ext uri="{FF2B5EF4-FFF2-40B4-BE49-F238E27FC236}">
                <a16:creationId xmlns:a16="http://schemas.microsoft.com/office/drawing/2014/main" id="{A65454AD-A5E6-43A4-B4F4-6B2E526324E2}"/>
              </a:ext>
            </a:extLst>
          </p:cNvPr>
          <p:cNvGrpSpPr/>
          <p:nvPr/>
        </p:nvGrpSpPr>
        <p:grpSpPr>
          <a:xfrm>
            <a:off x="5721147" y="6500244"/>
            <a:ext cx="6414893" cy="3297843"/>
            <a:chOff x="11087977" y="21018858"/>
            <a:chExt cx="6414893" cy="3297843"/>
          </a:xfrm>
        </p:grpSpPr>
        <p:pic>
          <p:nvPicPr>
            <p:cNvPr id="374" name="Image 373">
              <a:extLst>
                <a:ext uri="{FF2B5EF4-FFF2-40B4-BE49-F238E27FC236}">
                  <a16:creationId xmlns:a16="http://schemas.microsoft.com/office/drawing/2014/main" id="{717C1142-2E4F-4E5C-86F9-6E5A536CD0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/>
            <a:srcRect l="14871" t="29206" r="26308" b="27645"/>
            <a:stretch/>
          </p:blipFill>
          <p:spPr>
            <a:xfrm>
              <a:off x="11087977" y="21018858"/>
              <a:ext cx="3451614" cy="2531947"/>
            </a:xfrm>
            <a:prstGeom prst="rect">
              <a:avLst/>
            </a:prstGeom>
          </p:spPr>
        </p:pic>
        <p:pic>
          <p:nvPicPr>
            <p:cNvPr id="375" name="Image 374">
              <a:extLst>
                <a:ext uri="{FF2B5EF4-FFF2-40B4-BE49-F238E27FC236}">
                  <a16:creationId xmlns:a16="http://schemas.microsoft.com/office/drawing/2014/main" id="{E1839145-55CE-4220-8AD3-FDEF6E41B9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16045" t="9967" r="12580" b="10605"/>
            <a:stretch/>
          </p:blipFill>
          <p:spPr>
            <a:xfrm rot="5400000">
              <a:off x="14641421" y="21455251"/>
              <a:ext cx="2708642" cy="3014257"/>
            </a:xfrm>
            <a:prstGeom prst="rect">
              <a:avLst/>
            </a:prstGeom>
          </p:spPr>
        </p:pic>
      </p:grpSp>
      <p:sp>
        <p:nvSpPr>
          <p:cNvPr id="376" name="ZoneTexte 375">
            <a:extLst>
              <a:ext uri="{FF2B5EF4-FFF2-40B4-BE49-F238E27FC236}">
                <a16:creationId xmlns:a16="http://schemas.microsoft.com/office/drawing/2014/main" id="{B8529964-25F3-4834-A62E-10D838162A1B}"/>
              </a:ext>
            </a:extLst>
          </p:cNvPr>
          <p:cNvSpPr txBox="1"/>
          <p:nvPr/>
        </p:nvSpPr>
        <p:spPr>
          <a:xfrm>
            <a:off x="7381085" y="9193804"/>
            <a:ext cx="22466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BR-100857</a:t>
            </a:r>
          </a:p>
          <a:p>
            <a:r>
              <a:rPr lang="fr-FR" sz="2000" dirty="0"/>
              <a:t>Lumen </a:t>
            </a:r>
            <a:r>
              <a:rPr lang="fr-FR" sz="2000" dirty="0" err="1"/>
              <a:t>Subsea</a:t>
            </a:r>
            <a:r>
              <a:rPr lang="fr-FR" sz="2000" dirty="0"/>
              <a:t> 1500</a:t>
            </a:r>
          </a:p>
        </p:txBody>
      </p:sp>
      <p:sp>
        <p:nvSpPr>
          <p:cNvPr id="377" name="ZoneTexte 376">
            <a:extLst>
              <a:ext uri="{FF2B5EF4-FFF2-40B4-BE49-F238E27FC236}">
                <a16:creationId xmlns:a16="http://schemas.microsoft.com/office/drawing/2014/main" id="{91CB6EC7-8E1A-4BAC-858B-0B8CAC5C5C87}"/>
              </a:ext>
            </a:extLst>
          </p:cNvPr>
          <p:cNvSpPr txBox="1"/>
          <p:nvPr/>
        </p:nvSpPr>
        <p:spPr>
          <a:xfrm>
            <a:off x="3489687" y="11954164"/>
            <a:ext cx="2543773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9900" b="1" dirty="0"/>
              <a:t>Double lumière rotative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F83D4FEB-976F-4894-8236-08591F97DBEA}"/>
              </a:ext>
            </a:extLst>
          </p:cNvPr>
          <p:cNvGrpSpPr/>
          <p:nvPr/>
        </p:nvGrpSpPr>
        <p:grpSpPr>
          <a:xfrm>
            <a:off x="18185463" y="2484084"/>
            <a:ext cx="10294563" cy="7637324"/>
            <a:chOff x="29277704" y="24447308"/>
            <a:chExt cx="10294563" cy="7637324"/>
          </a:xfrm>
        </p:grpSpPr>
        <p:grpSp>
          <p:nvGrpSpPr>
            <p:cNvPr id="378" name="Groupe 377">
              <a:extLst>
                <a:ext uri="{FF2B5EF4-FFF2-40B4-BE49-F238E27FC236}">
                  <a16:creationId xmlns:a16="http://schemas.microsoft.com/office/drawing/2014/main" id="{A3C7EE70-AA38-4044-B8C9-125CC2189F68}"/>
                </a:ext>
              </a:extLst>
            </p:cNvPr>
            <p:cNvGrpSpPr/>
            <p:nvPr/>
          </p:nvGrpSpPr>
          <p:grpSpPr>
            <a:xfrm>
              <a:off x="29277704" y="24447308"/>
              <a:ext cx="10294563" cy="7637324"/>
              <a:chOff x="21160641" y="23043843"/>
              <a:chExt cx="10294563" cy="7637324"/>
            </a:xfrm>
          </p:grpSpPr>
          <p:sp>
            <p:nvSpPr>
              <p:cNvPr id="379" name="Rectangle : coins arrondis 378">
                <a:extLst>
                  <a:ext uri="{FF2B5EF4-FFF2-40B4-BE49-F238E27FC236}">
                    <a16:creationId xmlns:a16="http://schemas.microsoft.com/office/drawing/2014/main" id="{1372424F-3117-4592-AB94-3A2BED595119}"/>
                  </a:ext>
                </a:extLst>
              </p:cNvPr>
              <p:cNvSpPr/>
              <p:nvPr/>
            </p:nvSpPr>
            <p:spPr>
              <a:xfrm>
                <a:off x="21160641" y="23043843"/>
                <a:ext cx="10294563" cy="7636472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80" name="ZoneTexte 379">
                <a:extLst>
                  <a:ext uri="{FF2B5EF4-FFF2-40B4-BE49-F238E27FC236}">
                    <a16:creationId xmlns:a16="http://schemas.microsoft.com/office/drawing/2014/main" id="{AA759647-47D7-4FD5-929A-8CC9DBD16A5D}"/>
                  </a:ext>
                </a:extLst>
              </p:cNvPr>
              <p:cNvSpPr txBox="1"/>
              <p:nvPr/>
            </p:nvSpPr>
            <p:spPr>
              <a:xfrm>
                <a:off x="21989132" y="29911726"/>
                <a:ext cx="439442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400" b="1" dirty="0"/>
                  <a:t>Caisson moteur</a:t>
                </a:r>
              </a:p>
            </p:txBody>
          </p:sp>
        </p:grpSp>
        <p:pic>
          <p:nvPicPr>
            <p:cNvPr id="381" name="Image 380">
              <a:extLst>
                <a:ext uri="{FF2B5EF4-FFF2-40B4-BE49-F238E27FC236}">
                  <a16:creationId xmlns:a16="http://schemas.microsoft.com/office/drawing/2014/main" id="{60812B0D-ABE0-4A29-BEB1-01C6A5CD93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30734769" y="24842916"/>
              <a:ext cx="2749826" cy="1757060"/>
            </a:xfrm>
            <a:prstGeom prst="rect">
              <a:avLst/>
            </a:prstGeom>
          </p:spPr>
        </p:pic>
        <p:sp>
          <p:nvSpPr>
            <p:cNvPr id="382" name="ZoneTexte 381">
              <a:extLst>
                <a:ext uri="{FF2B5EF4-FFF2-40B4-BE49-F238E27FC236}">
                  <a16:creationId xmlns:a16="http://schemas.microsoft.com/office/drawing/2014/main" id="{CBEB3E0B-1B92-4D09-B13C-B2F33D979C50}"/>
                </a:ext>
              </a:extLst>
            </p:cNvPr>
            <p:cNvSpPr txBox="1"/>
            <p:nvPr/>
          </p:nvSpPr>
          <p:spPr>
            <a:xfrm>
              <a:off x="30315744" y="24837905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  <p:grpSp>
          <p:nvGrpSpPr>
            <p:cNvPr id="383" name="Groupe 382">
              <a:extLst>
                <a:ext uri="{FF2B5EF4-FFF2-40B4-BE49-F238E27FC236}">
                  <a16:creationId xmlns:a16="http://schemas.microsoft.com/office/drawing/2014/main" id="{F61EF7FF-594A-44E3-A55B-838EF6A720C1}"/>
                </a:ext>
              </a:extLst>
            </p:cNvPr>
            <p:cNvGrpSpPr/>
            <p:nvPr/>
          </p:nvGrpSpPr>
          <p:grpSpPr>
            <a:xfrm>
              <a:off x="34637891" y="27261550"/>
              <a:ext cx="4710111" cy="2070943"/>
              <a:chOff x="17165543" y="8360833"/>
              <a:chExt cx="4710111" cy="2070943"/>
            </a:xfrm>
          </p:grpSpPr>
          <p:sp>
            <p:nvSpPr>
              <p:cNvPr id="384" name="ZoneTexte 383">
                <a:extLst>
                  <a:ext uri="{FF2B5EF4-FFF2-40B4-BE49-F238E27FC236}">
                    <a16:creationId xmlns:a16="http://schemas.microsoft.com/office/drawing/2014/main" id="{84B44E26-BFC9-492D-B708-1C06F55011B0}"/>
                  </a:ext>
                </a:extLst>
              </p:cNvPr>
              <p:cNvSpPr txBox="1"/>
              <p:nvPr/>
            </p:nvSpPr>
            <p:spPr>
              <a:xfrm>
                <a:off x="17165543" y="8360833"/>
                <a:ext cx="149156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Alim moteur</a:t>
                </a:r>
              </a:p>
              <a:p>
                <a:r>
                  <a:rPr lang="fr-FR" sz="2000" dirty="0"/>
                  <a:t>COB-1231 </a:t>
                </a:r>
              </a:p>
            </p:txBody>
          </p:sp>
          <p:pic>
            <p:nvPicPr>
              <p:cNvPr id="385" name="Image 384">
                <a:extLst>
                  <a:ext uri="{FF2B5EF4-FFF2-40B4-BE49-F238E27FC236}">
                    <a16:creationId xmlns:a16="http://schemas.microsoft.com/office/drawing/2014/main" id="{35C5737E-8E13-45CB-AFD3-C4EC49731F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562" t="30585" r="5543" b="27280"/>
              <a:stretch/>
            </p:blipFill>
            <p:spPr>
              <a:xfrm>
                <a:off x="17693035" y="8426721"/>
                <a:ext cx="4182619" cy="2005055"/>
              </a:xfrm>
              <a:prstGeom prst="roundRect">
                <a:avLst/>
              </a:prstGeom>
            </p:spPr>
          </p:pic>
        </p:grpSp>
        <p:grpSp>
          <p:nvGrpSpPr>
            <p:cNvPr id="386" name="Groupe 385">
              <a:extLst>
                <a:ext uri="{FF2B5EF4-FFF2-40B4-BE49-F238E27FC236}">
                  <a16:creationId xmlns:a16="http://schemas.microsoft.com/office/drawing/2014/main" id="{2E3E1B60-290F-4062-B4CF-510767235589}"/>
                </a:ext>
              </a:extLst>
            </p:cNvPr>
            <p:cNvGrpSpPr/>
            <p:nvPr/>
          </p:nvGrpSpPr>
          <p:grpSpPr>
            <a:xfrm>
              <a:off x="34209212" y="25014735"/>
              <a:ext cx="3045354" cy="1575835"/>
              <a:chOff x="19417256" y="19707717"/>
              <a:chExt cx="3045354" cy="1575835"/>
            </a:xfrm>
          </p:grpSpPr>
          <p:pic>
            <p:nvPicPr>
              <p:cNvPr id="387" name="Image 386">
                <a:extLst>
                  <a:ext uri="{FF2B5EF4-FFF2-40B4-BE49-F238E27FC236}">
                    <a16:creationId xmlns:a16="http://schemas.microsoft.com/office/drawing/2014/main" id="{0DB9A080-0F68-4A29-B418-7CE35824EB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0587511" y="19707717"/>
                <a:ext cx="1875099" cy="1575835"/>
              </a:xfrm>
              <a:prstGeom prst="rect">
                <a:avLst/>
              </a:prstGeom>
            </p:spPr>
          </p:pic>
          <p:sp>
            <p:nvSpPr>
              <p:cNvPr id="388" name="ZoneTexte 387">
                <a:extLst>
                  <a:ext uri="{FF2B5EF4-FFF2-40B4-BE49-F238E27FC236}">
                    <a16:creationId xmlns:a16="http://schemas.microsoft.com/office/drawing/2014/main" id="{1B83ED86-55AF-475F-BCE8-DB7D5C692477}"/>
                  </a:ext>
                </a:extLst>
              </p:cNvPr>
              <p:cNvSpPr txBox="1"/>
              <p:nvPr/>
            </p:nvSpPr>
            <p:spPr>
              <a:xfrm>
                <a:off x="19417256" y="19754755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389" name="ZoneTexte 388">
              <a:extLst>
                <a:ext uri="{FF2B5EF4-FFF2-40B4-BE49-F238E27FC236}">
                  <a16:creationId xmlns:a16="http://schemas.microsoft.com/office/drawing/2014/main" id="{BAE5AE7D-4809-4569-9FA6-6358709B8BBF}"/>
                </a:ext>
              </a:extLst>
            </p:cNvPr>
            <p:cNvSpPr txBox="1"/>
            <p:nvPr/>
          </p:nvSpPr>
          <p:spPr>
            <a:xfrm>
              <a:off x="36970709" y="29712353"/>
              <a:ext cx="178927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Presse étoupe</a:t>
              </a:r>
            </a:p>
            <a:p>
              <a:r>
                <a:rPr lang="fr-FR" sz="2000" dirty="0"/>
                <a:t>6.5 mm HC</a:t>
              </a:r>
            </a:p>
            <a:p>
              <a:r>
                <a:rPr lang="fr-FR" sz="2000" dirty="0"/>
                <a:t>BR-100870-165</a:t>
              </a:r>
            </a:p>
          </p:txBody>
        </p:sp>
        <p:pic>
          <p:nvPicPr>
            <p:cNvPr id="390" name="Image 389">
              <a:extLst>
                <a:ext uri="{FF2B5EF4-FFF2-40B4-BE49-F238E27FC236}">
                  <a16:creationId xmlns:a16="http://schemas.microsoft.com/office/drawing/2014/main" id="{D72D3FC5-04E0-425C-B491-72FB35EFF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5445822" y="29817039"/>
              <a:ext cx="3461492" cy="1635979"/>
            </a:xfrm>
            <a:prstGeom prst="rect">
              <a:avLst/>
            </a:prstGeom>
          </p:spPr>
        </p:pic>
        <p:sp>
          <p:nvSpPr>
            <p:cNvPr id="391" name="ZoneTexte 390">
              <a:extLst>
                <a:ext uri="{FF2B5EF4-FFF2-40B4-BE49-F238E27FC236}">
                  <a16:creationId xmlns:a16="http://schemas.microsoft.com/office/drawing/2014/main" id="{CFA23BBA-124B-43DC-9DA0-83E8FA8D8A8E}"/>
                </a:ext>
              </a:extLst>
            </p:cNvPr>
            <p:cNvSpPr txBox="1"/>
            <p:nvPr/>
          </p:nvSpPr>
          <p:spPr>
            <a:xfrm>
              <a:off x="37178622" y="24969327"/>
              <a:ext cx="7136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4400" dirty="0"/>
                <a:t>x2</a:t>
              </a:r>
            </a:p>
          </p:txBody>
        </p:sp>
        <p:pic>
          <p:nvPicPr>
            <p:cNvPr id="392" name="Image 391">
              <a:extLst>
                <a:ext uri="{FF2B5EF4-FFF2-40B4-BE49-F238E27FC236}">
                  <a16:creationId xmlns:a16="http://schemas.microsoft.com/office/drawing/2014/main" id="{7F2B7A07-094A-4D00-8580-FE7008ECB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838045" y="27220927"/>
              <a:ext cx="3318387" cy="1802825"/>
            </a:xfrm>
            <a:prstGeom prst="rect">
              <a:avLst/>
            </a:prstGeom>
          </p:spPr>
        </p:pic>
        <p:sp>
          <p:nvSpPr>
            <p:cNvPr id="393" name="ZoneTexte 392">
              <a:extLst>
                <a:ext uri="{FF2B5EF4-FFF2-40B4-BE49-F238E27FC236}">
                  <a16:creationId xmlns:a16="http://schemas.microsoft.com/office/drawing/2014/main" id="{B490FD94-DB45-4747-8594-A724BA5ADFD4}"/>
                </a:ext>
              </a:extLst>
            </p:cNvPr>
            <p:cNvSpPr txBox="1"/>
            <p:nvPr/>
          </p:nvSpPr>
          <p:spPr>
            <a:xfrm>
              <a:off x="30456472" y="27051998"/>
              <a:ext cx="16342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Signal moteur</a:t>
              </a:r>
            </a:p>
            <a:p>
              <a:r>
                <a:rPr lang="fr-FR" sz="2000" dirty="0"/>
                <a:t>COB-1241 </a:t>
              </a:r>
            </a:p>
          </p:txBody>
        </p:sp>
        <p:grpSp>
          <p:nvGrpSpPr>
            <p:cNvPr id="394" name="Groupe 393">
              <a:extLst>
                <a:ext uri="{FF2B5EF4-FFF2-40B4-BE49-F238E27FC236}">
                  <a16:creationId xmlns:a16="http://schemas.microsoft.com/office/drawing/2014/main" id="{CE66F11F-EE47-4E82-BF5C-95677314AE38}"/>
                </a:ext>
              </a:extLst>
            </p:cNvPr>
            <p:cNvGrpSpPr/>
            <p:nvPr/>
          </p:nvGrpSpPr>
          <p:grpSpPr>
            <a:xfrm>
              <a:off x="29919781" y="29312289"/>
              <a:ext cx="4394426" cy="1847945"/>
              <a:chOff x="17046099" y="7402268"/>
              <a:chExt cx="4394426" cy="1847945"/>
            </a:xfrm>
          </p:grpSpPr>
          <p:sp>
            <p:nvSpPr>
              <p:cNvPr id="395" name="ZoneTexte 394">
                <a:extLst>
                  <a:ext uri="{FF2B5EF4-FFF2-40B4-BE49-F238E27FC236}">
                    <a16:creationId xmlns:a16="http://schemas.microsoft.com/office/drawing/2014/main" id="{FFA11B24-AF0B-47D2-9F4A-B97F7E8EC48A}"/>
                  </a:ext>
                </a:extLst>
              </p:cNvPr>
              <p:cNvSpPr txBox="1"/>
              <p:nvPr/>
            </p:nvSpPr>
            <p:spPr>
              <a:xfrm>
                <a:off x="18989259" y="7480427"/>
                <a:ext cx="1789272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/>
                  <a:t>Presse étoupe</a:t>
                </a:r>
              </a:p>
              <a:p>
                <a:r>
                  <a:rPr lang="fr-FR" sz="2000" dirty="0"/>
                  <a:t>8.5 mm HC</a:t>
                </a:r>
              </a:p>
              <a:p>
                <a:r>
                  <a:rPr lang="fr-FR" sz="2000" dirty="0"/>
                  <a:t>BR-100870-185</a:t>
                </a:r>
              </a:p>
            </p:txBody>
          </p:sp>
          <p:pic>
            <p:nvPicPr>
              <p:cNvPr id="396" name="Image 395">
                <a:extLst>
                  <a:ext uri="{FF2B5EF4-FFF2-40B4-BE49-F238E27FC236}">
                    <a16:creationId xmlns:a16="http://schemas.microsoft.com/office/drawing/2014/main" id="{72DB809C-BF90-46CA-A778-B51B26FBE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7046099" y="7402268"/>
                <a:ext cx="4394426" cy="1847945"/>
              </a:xfrm>
              <a:prstGeom prst="rect">
                <a:avLst/>
              </a:prstGeom>
            </p:spPr>
          </p:pic>
        </p:grp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B2B962B6-159A-4AB0-B261-C56DEDE9A84B}"/>
              </a:ext>
            </a:extLst>
          </p:cNvPr>
          <p:cNvSpPr txBox="1"/>
          <p:nvPr/>
        </p:nvSpPr>
        <p:spPr>
          <a:xfrm>
            <a:off x="3990482" y="39474835"/>
            <a:ext cx="150234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/>
              <a:t>Remarque : il n’est pas possible de mettre en même temps stéréo et double lumière.</a:t>
            </a:r>
          </a:p>
        </p:txBody>
      </p:sp>
    </p:spTree>
    <p:extLst>
      <p:ext uri="{BB962C8B-B14F-4D97-AF65-F5344CB8AC3E}">
        <p14:creationId xmlns:p14="http://schemas.microsoft.com/office/powerpoint/2010/main" val="213978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E29AB0-0901-4B1D-B318-63651099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546D-BE63-DD4F-B215-3990C2EAC06E}" type="datetime1">
              <a:rPr lang="fr-FR" smtClean="0"/>
              <a:t>28/09/2026</a:t>
            </a:fld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87A3EA5-95AB-430A-B200-6AAE72F1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4</a:t>
            </a:fld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2DA2C43B-09CB-4702-90B6-472C7D8E9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554660"/>
              </p:ext>
            </p:extLst>
          </p:nvPr>
        </p:nvGraphicFramePr>
        <p:xfrm>
          <a:off x="944670" y="909839"/>
          <a:ext cx="17217102" cy="150509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3506">
                  <a:extLst>
                    <a:ext uri="{9D8B030D-6E8A-4147-A177-3AD203B41FA5}">
                      <a16:colId xmlns:a16="http://schemas.microsoft.com/office/drawing/2014/main" val="826937926"/>
                    </a:ext>
                  </a:extLst>
                </a:gridCol>
                <a:gridCol w="7103750">
                  <a:extLst>
                    <a:ext uri="{9D8B030D-6E8A-4147-A177-3AD203B41FA5}">
                      <a16:colId xmlns:a16="http://schemas.microsoft.com/office/drawing/2014/main" val="1077229644"/>
                    </a:ext>
                  </a:extLst>
                </a:gridCol>
                <a:gridCol w="2568481">
                  <a:extLst>
                    <a:ext uri="{9D8B030D-6E8A-4147-A177-3AD203B41FA5}">
                      <a16:colId xmlns:a16="http://schemas.microsoft.com/office/drawing/2014/main" val="617238783"/>
                    </a:ext>
                  </a:extLst>
                </a:gridCol>
                <a:gridCol w="1541365">
                  <a:extLst>
                    <a:ext uri="{9D8B030D-6E8A-4147-A177-3AD203B41FA5}">
                      <a16:colId xmlns:a16="http://schemas.microsoft.com/office/drawing/2014/main" val="3793184219"/>
                    </a:ext>
                  </a:extLst>
                </a:gridCol>
              </a:tblGrid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Dénomination 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Nomenclature </a:t>
                      </a:r>
                      <a:r>
                        <a:rPr lang="fr-FR" sz="28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Rov</a:t>
                      </a:r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Expert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>
                          <a:solidFill>
                            <a:schemeClr val="tx1"/>
                          </a:solidFill>
                          <a:effectLst/>
                        </a:rPr>
                        <a:t>Référence constructeur</a:t>
                      </a:r>
                      <a:endParaRPr lang="fr-FR" sz="2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Quantité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832285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Tube 4’’ </a:t>
                      </a:r>
                      <a:r>
                        <a:rPr lang="fr-FR" sz="2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Acrylic</a:t>
                      </a:r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20 cm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Watertight Enclosure Tube: 4" Locking Series, Acrylic 20 mm</a:t>
                      </a:r>
                      <a:endParaRPr lang="en-US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BR-101052-200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259121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Bride 4’’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4’’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BR-100665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18762539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10 trous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Aluminum End Cap with 10 Holes (4″ Series)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494587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Hublot plan 4’’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End cap acrylic 4’’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BR-102993-998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3007180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Vent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M10 Enclosure Vent and Plug</a:t>
                      </a:r>
                      <a:endParaRPr lang="en-US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BR-100783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3450702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Pressure Relief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Pressure Relief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BR-100804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626181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Capteur TP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solidFill>
                            <a:schemeClr val="tx1"/>
                          </a:solidFill>
                          <a:effectLst/>
                        </a:rPr>
                        <a:t>BAR30 HIGH RESOLUTION</a:t>
                      </a:r>
                      <a:endParaRPr lang="fr-FR" sz="2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BR-100586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7993150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Presse étoupe 6.5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WLP-M10-6.5MM-HC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BR-100870-165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16930973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Presse étoupe 8.5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WLP-M10-8.5MM-HC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BR-100870-185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28097058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1)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Plug</a:t>
                      </a:r>
                      <a:endParaRPr lang="fr-FR" sz="2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COB-1002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500113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2)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Locking Sleeve</a:t>
                      </a:r>
                      <a:endParaRPr lang="fr-FR" sz="2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COB-1001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891555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femelle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Cap</a:t>
                      </a:r>
                      <a:endParaRPr lang="fr-FR" sz="2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COB-1003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109571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3 pin 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3 pin Bulkhead Connector</a:t>
                      </a:r>
                      <a:endParaRPr lang="en-US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COB-1130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040424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4 pin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4-pin </a:t>
                      </a:r>
                      <a:r>
                        <a:rPr lang="fr-FR" sz="2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COB-1140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5739641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mâle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8-pin </a:t>
                      </a:r>
                      <a:r>
                        <a:rPr lang="fr-FR" sz="28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8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COB-1180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85149067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 câble fils nus 3 pin 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3 pin</a:t>
                      </a:r>
                      <a:endParaRPr lang="en-US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COB-1231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241395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+câble nus 4 pin</a:t>
                      </a:r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4 pin</a:t>
                      </a:r>
                      <a:endParaRPr lang="en-US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COB-1241</a:t>
                      </a:r>
                      <a:endParaRPr lang="fr-FR" sz="2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74382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femelle 4 pin à sertir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fr-FR" sz="2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Cobalt </a:t>
                      </a:r>
                      <a:r>
                        <a:rPr lang="fr-FR" sz="28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fr-FR" sz="2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Cable </a:t>
                      </a:r>
                      <a:r>
                        <a:rPr lang="fr-FR" sz="28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Termination</a:t>
                      </a:r>
                      <a:r>
                        <a:rPr lang="fr-FR" sz="28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0235503"/>
                  </a:ext>
                </a:extLst>
              </a:tr>
              <a:tr h="382134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Tube 2’’ </a:t>
                      </a:r>
                      <a:r>
                        <a:rPr lang="fr-FR" sz="2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Acrylic</a:t>
                      </a:r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10 cm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Enclosure tube 2’’ acrylic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BR-100230-101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4744321"/>
                  </a:ext>
                </a:extLst>
              </a:tr>
              <a:tr h="44312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Bouchon 2 trous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2’’  2 Holes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BR-100276-002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163220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Bride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BR-100276-998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793871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Hublot plan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800" dirty="0"/>
                        <a:t>End cap </a:t>
                      </a:r>
                      <a:r>
                        <a:rPr lang="fr-FR" sz="2800" dirty="0" err="1"/>
                        <a:t>acrylic</a:t>
                      </a:r>
                      <a:r>
                        <a:rPr lang="fr-FR" sz="2800" dirty="0"/>
                        <a:t>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BR-100094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7062031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Bouchon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800" dirty="0" err="1"/>
                        <a:t>WetLink</a:t>
                      </a:r>
                      <a:r>
                        <a:rPr lang="fr-FR" sz="2800" dirty="0"/>
                        <a:t> </a:t>
                      </a:r>
                      <a:r>
                        <a:rPr lang="fr-FR" sz="2800" dirty="0" err="1"/>
                        <a:t>Penetrator</a:t>
                      </a:r>
                      <a:r>
                        <a:rPr lang="fr-FR" sz="2800" dirty="0"/>
                        <a:t> Blank (No Hole)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BR-100434-010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876960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Lumière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fr-FR" sz="2800" dirty="0"/>
                    </a:p>
                    <a:p>
                      <a:r>
                        <a:rPr lang="fr-FR" sz="2800" dirty="0"/>
                        <a:t>Lumen </a:t>
                      </a:r>
                      <a:r>
                        <a:rPr lang="fr-FR" sz="2800" dirty="0" err="1"/>
                        <a:t>Subsea</a:t>
                      </a:r>
                      <a:r>
                        <a:rPr lang="fr-FR" sz="2800" dirty="0"/>
                        <a:t> 1500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BR-100857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101728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Pompe à vide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Vacuum 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3152937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pour enlever les joints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O-ring Pick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BR-100574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685333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Clé de serrage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WetLink</a:t>
                      </a: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Bulkhead Wrench M10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BR-100977-010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543639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Outil de sertissage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Cobalt Series Cable Termination Tool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COB-3240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59698613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123EFCAF-79C4-463C-B5FC-FA026442C41A}"/>
              </a:ext>
            </a:extLst>
          </p:cNvPr>
          <p:cNvSpPr txBox="1"/>
          <p:nvPr/>
        </p:nvSpPr>
        <p:spPr>
          <a:xfrm>
            <a:off x="18842707" y="4963885"/>
            <a:ext cx="8676380" cy="262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 systèmes stéréo KOSAQH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32A97478-6682-48B0-AEE9-377F0496B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614782"/>
              </p:ext>
            </p:extLst>
          </p:nvPr>
        </p:nvGraphicFramePr>
        <p:xfrm>
          <a:off x="944670" y="18216626"/>
          <a:ext cx="15505557" cy="11064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1749">
                  <a:extLst>
                    <a:ext uri="{9D8B030D-6E8A-4147-A177-3AD203B41FA5}">
                      <a16:colId xmlns:a16="http://schemas.microsoft.com/office/drawing/2014/main" val="826937926"/>
                    </a:ext>
                  </a:extLst>
                </a:gridCol>
                <a:gridCol w="5214349">
                  <a:extLst>
                    <a:ext uri="{9D8B030D-6E8A-4147-A177-3AD203B41FA5}">
                      <a16:colId xmlns:a16="http://schemas.microsoft.com/office/drawing/2014/main" val="1077229644"/>
                    </a:ext>
                  </a:extLst>
                </a:gridCol>
                <a:gridCol w="1885336">
                  <a:extLst>
                    <a:ext uri="{9D8B030D-6E8A-4147-A177-3AD203B41FA5}">
                      <a16:colId xmlns:a16="http://schemas.microsoft.com/office/drawing/2014/main" val="617238783"/>
                    </a:ext>
                  </a:extLst>
                </a:gridCol>
                <a:gridCol w="1909016">
                  <a:extLst>
                    <a:ext uri="{9D8B030D-6E8A-4147-A177-3AD203B41FA5}">
                      <a16:colId xmlns:a16="http://schemas.microsoft.com/office/drawing/2014/main" val="4219996565"/>
                    </a:ext>
                  </a:extLst>
                </a:gridCol>
                <a:gridCol w="2155107">
                  <a:extLst>
                    <a:ext uri="{9D8B030D-6E8A-4147-A177-3AD203B41FA5}">
                      <a16:colId xmlns:a16="http://schemas.microsoft.com/office/drawing/2014/main" val="3907579341"/>
                    </a:ext>
                  </a:extLst>
                </a:gridCol>
              </a:tblGrid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Dénomination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Nomenclature </a:t>
                      </a:r>
                      <a:r>
                        <a:rPr lang="fr-FR" sz="2000" b="1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Rov</a:t>
                      </a:r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Expert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>
                          <a:solidFill>
                            <a:schemeClr val="tx1"/>
                          </a:solidFill>
                          <a:effectLst/>
                        </a:rPr>
                        <a:t>Référence constructeur</a:t>
                      </a:r>
                      <a:endParaRPr lang="fr-FR" sz="2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Eléments communs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Maintenance &amp; Outils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0832285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Tube 4’’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Acrylic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20 cm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Watertight Enclosure Tube: 4" Locking Series, Acrylic 20 mm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BR-101052-200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259121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Bride 4’’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4’’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BR-100665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18762539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bride 10 trous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Aluminum End Cap with 10 Holes (4″ Series)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494587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Hublot plan 4’’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End cap acrylic 4’’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BR-102993-998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3007180"/>
                  </a:ext>
                </a:extLst>
              </a:tr>
              <a:tr h="237500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Vent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M10 Enclosure Vent and Plug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BR-100783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3450702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Pressure Relief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Pressure Relief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BR-100804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46261816"/>
                  </a:ext>
                </a:extLst>
              </a:tr>
              <a:tr h="25981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Capteur TP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BAR30 HIGH RESOLUTION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BR-100586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1?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7993150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1)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Plug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COB-1002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59500113"/>
                  </a:ext>
                </a:extLst>
              </a:tr>
              <a:tr h="523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mâle (partie 2)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Locking Sleeve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891555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Bouchon pour connecteur femelle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>
                          <a:solidFill>
                            <a:schemeClr val="tx1"/>
                          </a:solidFill>
                          <a:effectLst/>
                        </a:rPr>
                        <a:t>Cobalt Series Dummy Cap</a:t>
                      </a:r>
                      <a:endParaRPr lang="fr-FR" sz="20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COB-1003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01095718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3 pin Bulkhead Connector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COB-1130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0404247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mâle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4-pin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COB-1140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5739641"/>
                  </a:ext>
                </a:extLst>
              </a:tr>
              <a:tr h="349566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mâle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Cobalt 8-pin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Bulkhead</a:t>
                      </a:r>
                      <a:r>
                        <a:rPr lang="fr-FR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fr-FR" sz="20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Connector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COB-1180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85149067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 câble fils nus 3 pin 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3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COB-1231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fr-FR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4241395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Connecteur femelle +câble nus 4 pin</a:t>
                      </a:r>
                      <a:endParaRPr lang="fr-FR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4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COB-1241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674382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femelle 4 pin à sertir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Cobalt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Series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Cable </a:t>
                      </a:r>
                      <a:r>
                        <a:rPr lang="fr-FR" sz="20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Termination</a:t>
                      </a:r>
                      <a:r>
                        <a:rPr lang="fr-FR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0235503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Connecteur femme + câble fils nus 8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Single ended Cable 8 pin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COB-1281</a:t>
                      </a:r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2438917"/>
                  </a:ext>
                </a:extLst>
              </a:tr>
              <a:tr h="382134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Tube 2’’ </a:t>
                      </a:r>
                      <a:r>
                        <a:rPr lang="fr-FR" sz="2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Acrylic</a:t>
                      </a:r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10 cm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Enclosure tube 2’’ acrylic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BR-100230-101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4744321"/>
                  </a:ext>
                </a:extLst>
              </a:tr>
              <a:tr h="443121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Bouchon 2 trous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2’’  2 Holes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BR-100276-002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1632206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Bride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Flange cap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BR-100276-998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793871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Hublot plan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End cap </a:t>
                      </a:r>
                      <a:r>
                        <a:rPr lang="fr-FR" sz="2000" dirty="0" err="1"/>
                        <a:t>acrylic</a:t>
                      </a:r>
                      <a:r>
                        <a:rPr lang="fr-FR" sz="2000" dirty="0"/>
                        <a:t> 2’’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BR-100094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70620310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Bouchon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000" dirty="0" err="1"/>
                        <a:t>WetLink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Penetrator</a:t>
                      </a:r>
                      <a:r>
                        <a:rPr lang="fr-FR" sz="2000" dirty="0"/>
                        <a:t> Blank (No Hole)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BR-100434-010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8769608"/>
                  </a:ext>
                </a:extLst>
              </a:tr>
              <a:tr h="51813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Lumière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Lumen </a:t>
                      </a:r>
                      <a:r>
                        <a:rPr lang="fr-FR" sz="2000" dirty="0" err="1"/>
                        <a:t>Subsea</a:t>
                      </a:r>
                      <a:r>
                        <a:rPr lang="fr-FR" sz="2000" dirty="0"/>
                        <a:t> 1500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BR-100857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fr-FR" sz="2000" b="1" i="0" u="none" strike="noStrike" dirty="0">
                        <a:solidFill>
                          <a:srgbClr val="0092D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1017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441807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5344</TotalTime>
  <Words>1343</Words>
  <Application>Microsoft Office PowerPoint</Application>
  <PresentationFormat>Personnalisé</PresentationFormat>
  <Paragraphs>543</Paragraphs>
  <Slides>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Open Sans</vt:lpstr>
      <vt:lpstr>Open Sans Light</vt:lpstr>
      <vt:lpstr>Roboto</vt:lpstr>
      <vt:lpstr>Conception personnalisée</vt:lpstr>
      <vt:lpstr>Présentation PowerPoint</vt:lpstr>
      <vt:lpstr>Présentation PowerPoint</vt:lpstr>
      <vt:lpstr>Présentation PowerPoint</vt:lpstr>
      <vt:lpstr>Présentation PowerPoint</vt:lpstr>
    </vt:vector>
  </TitlesOfParts>
  <Company>maison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coco coco</dc:creator>
  <cp:lastModifiedBy>Olivier FAUVARQUE</cp:lastModifiedBy>
  <cp:revision>710</cp:revision>
  <cp:lastPrinted>2026-01-27T16:25:16Z</cp:lastPrinted>
  <dcterms:created xsi:type="dcterms:W3CDTF">2017-06-18T13:28:54Z</dcterms:created>
  <dcterms:modified xsi:type="dcterms:W3CDTF">2026-09-28T08:36:20Z</dcterms:modified>
</cp:coreProperties>
</file>